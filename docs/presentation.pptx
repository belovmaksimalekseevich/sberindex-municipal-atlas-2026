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1ceb283a104e5a" /><Relationship Type="http://schemas.openxmlformats.org/officeDocument/2006/relationships/extended-properties" Target="/docProps/app.xml" Id="R81b405e668fe4345" /><Relationship Type="http://schemas.openxmlformats.org/officeDocument/2006/relationships/officeDocument" Target="/ppt/presentation.xml" Id="R04d46b6d396743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343e9a48914882"/>
  </p:sldMasterIdLst>
  <p:notesMasterIdLst>
    <p:notesMasterId xmlns:r="http://schemas.openxmlformats.org/officeDocument/2006/relationships" r:id="R5cc81fd7c83b48e3"/>
  </p:notesMasterIdLst>
  <p:sldIdLst>
    <p:sldId xmlns:r="http://schemas.openxmlformats.org/officeDocument/2006/relationships" id="256" r:id="Rf0d898f4f4844d7f"/>
    <p:sldId xmlns:r="http://schemas.openxmlformats.org/officeDocument/2006/relationships" id="257" r:id="R05c941889b224390"/>
    <p:sldId xmlns:r="http://schemas.openxmlformats.org/officeDocument/2006/relationships" id="258" r:id="Rd301c00b40934e1c"/>
    <p:sldId xmlns:r="http://schemas.openxmlformats.org/officeDocument/2006/relationships" id="259" r:id="R204c6a75f79041c8"/>
    <p:sldId xmlns:r="http://schemas.openxmlformats.org/officeDocument/2006/relationships" id="260" r:id="R74a54231c8bf4574"/>
    <p:sldId xmlns:r="http://schemas.openxmlformats.org/officeDocument/2006/relationships" id="261" r:id="Rc55329ecc5b341d5"/>
    <p:sldId xmlns:r="http://schemas.openxmlformats.org/officeDocument/2006/relationships" id="262" r:id="Rb7c1985b444c4f97"/>
    <p:sldId xmlns:r="http://schemas.openxmlformats.org/officeDocument/2006/relationships" id="263" r:id="R41662fc93fda420d"/>
    <p:sldId xmlns:r="http://schemas.openxmlformats.org/officeDocument/2006/relationships" id="264" r:id="R1118d319f64c4f4b"/>
    <p:sldId xmlns:r="http://schemas.openxmlformats.org/officeDocument/2006/relationships" id="265" r:id="R43742800c95a4cf1"/>
    <p:sldId xmlns:r="http://schemas.openxmlformats.org/officeDocument/2006/relationships" id="266" r:id="R9fe24f95e2314753"/>
    <p:sldId xmlns:r="http://schemas.openxmlformats.org/officeDocument/2006/relationships" id="267" r:id="R9ef7901f34dd4435"/>
    <p:sldId xmlns:r="http://schemas.openxmlformats.org/officeDocument/2006/relationships" id="268" r:id="Rfaa95e94ead6429d"/>
    <p:sldId xmlns:r="http://schemas.openxmlformats.org/officeDocument/2006/relationships" id="269" r:id="R3b0c3d44f7174d04"/>
    <p:sldId xmlns:r="http://schemas.openxmlformats.org/officeDocument/2006/relationships" id="270" r:id="R7ca941e8a5b044f3"/>
    <p:sldId xmlns:r="http://schemas.openxmlformats.org/officeDocument/2006/relationships" id="271" r:id="R3ef64cee79e841ee"/>
    <p:sldId xmlns:r="http://schemas.openxmlformats.org/officeDocument/2006/relationships" id="272" r:id="R60b354b1088340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cb593ba3024bba" /><Relationship Type="http://schemas.openxmlformats.org/officeDocument/2006/relationships/slideMaster" Target="/ppt/slideMasters/slideMaster1.xml" Id="R24343e9a48914882" /><Relationship Type="http://schemas.openxmlformats.org/officeDocument/2006/relationships/notesMaster" Target="/ppt/notesMasters/notesMaster1.xml" Id="R5cc81fd7c83b48e3" /><Relationship Type="http://schemas.openxmlformats.org/officeDocument/2006/relationships/presProps" Target="/ppt/presProps.xml" Id="R936dfbf351914bd4" /><Relationship Type="http://schemas.openxmlformats.org/officeDocument/2006/relationships/tableStyles" Target="/ppt/tableStyles.xml" Id="R5f5ebc25792643c1" /><Relationship Type="http://schemas.openxmlformats.org/officeDocument/2006/relationships/slide" Target="/ppt/slides/slide1.xml" Id="Rf0d898f4f4844d7f" /><Relationship Type="http://schemas.openxmlformats.org/officeDocument/2006/relationships/slide" Target="/ppt/slides/slide2.xml" Id="R05c941889b224390" /><Relationship Type="http://schemas.openxmlformats.org/officeDocument/2006/relationships/slide" Target="/ppt/slides/slide3.xml" Id="Rd301c00b40934e1c" /><Relationship Type="http://schemas.openxmlformats.org/officeDocument/2006/relationships/slide" Target="/ppt/slides/slide4.xml" Id="R204c6a75f79041c8" /><Relationship Type="http://schemas.openxmlformats.org/officeDocument/2006/relationships/slide" Target="/ppt/slides/slide5.xml" Id="R74a54231c8bf4574" /><Relationship Type="http://schemas.openxmlformats.org/officeDocument/2006/relationships/slide" Target="/ppt/slides/slide6.xml" Id="Rc55329ecc5b341d5" /><Relationship Type="http://schemas.openxmlformats.org/officeDocument/2006/relationships/slide" Target="/ppt/slides/slide7.xml" Id="Rb7c1985b444c4f97" /><Relationship Type="http://schemas.openxmlformats.org/officeDocument/2006/relationships/slide" Target="/ppt/slides/slide8.xml" Id="R41662fc93fda420d" /><Relationship Type="http://schemas.openxmlformats.org/officeDocument/2006/relationships/slide" Target="/ppt/slides/slide9.xml" Id="R1118d319f64c4f4b" /><Relationship Type="http://schemas.openxmlformats.org/officeDocument/2006/relationships/slide" Target="/ppt/slides/slide10.xml" Id="R43742800c95a4cf1" /><Relationship Type="http://schemas.openxmlformats.org/officeDocument/2006/relationships/slide" Target="/ppt/slides/slide11.xml" Id="R9fe24f95e2314753" /><Relationship Type="http://schemas.openxmlformats.org/officeDocument/2006/relationships/slide" Target="/ppt/slides/slide12.xml" Id="R9ef7901f34dd4435" /><Relationship Type="http://schemas.openxmlformats.org/officeDocument/2006/relationships/slide" Target="/ppt/slides/slide13.xml" Id="Rfaa95e94ead6429d" /><Relationship Type="http://schemas.openxmlformats.org/officeDocument/2006/relationships/slide" Target="/ppt/slides/slide14.xml" Id="R3b0c3d44f7174d04" /><Relationship Type="http://schemas.openxmlformats.org/officeDocument/2006/relationships/slide" Target="/ppt/slides/slide15.xml" Id="R7ca941e8a5b044f3" /><Relationship Type="http://schemas.openxmlformats.org/officeDocument/2006/relationships/slide" Target="/ppt/slides/slide16.xml" Id="R3ef64cee79e841ee" /><Relationship Type="http://schemas.openxmlformats.org/officeDocument/2006/relationships/slide" Target="/ppt/slides/slide17.xml" Id="R60b354b1088340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3ecc56a8f240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e30a2c277b4f0b" /><Relationship Type="http://schemas.openxmlformats.org/officeDocument/2006/relationships/notesMaster" Target="/ppt/notesMasters/notesMaster1.xml" Id="Rfe121808694c41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7483e637a5459d" /><Relationship Type="http://schemas.openxmlformats.org/officeDocument/2006/relationships/notesMaster" Target="/ppt/notesMasters/notesMaster1.xml" Id="R0c1d535a737149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296b8be9eb44ac" /><Relationship Type="http://schemas.openxmlformats.org/officeDocument/2006/relationships/notesMaster" Target="/ppt/notesMasters/notesMaster1.xml" Id="R978335b1bf5c48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604653baae4a0c" /><Relationship Type="http://schemas.openxmlformats.org/officeDocument/2006/relationships/notesMaster" Target="/ppt/notesMasters/notesMaster1.xml" Id="R98bf8583adcb48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af977e6cab45f5" /><Relationship Type="http://schemas.openxmlformats.org/officeDocument/2006/relationships/notesMaster" Target="/ppt/notesMasters/notesMaster1.xml" Id="R3f2de92e77f54a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98eb53be114678" /><Relationship Type="http://schemas.openxmlformats.org/officeDocument/2006/relationships/notesMaster" Target="/ppt/notesMasters/notesMaster1.xml" Id="Rd537afd1a1704d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cb3610c2fb47a8" /><Relationship Type="http://schemas.openxmlformats.org/officeDocument/2006/relationships/notesMaster" Target="/ppt/notesMasters/notesMaster1.xml" Id="Rbf39de6084e848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5c676aca554f57" /><Relationship Type="http://schemas.openxmlformats.org/officeDocument/2006/relationships/notesMaster" Target="/ppt/notesMasters/notesMaster1.xml" Id="R23bcb1f942004b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124fbe65c44aee" /><Relationship Type="http://schemas.openxmlformats.org/officeDocument/2006/relationships/notesMaster" Target="/ppt/notesMasters/notesMaster1.xml" Id="R4069d611a6554e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f0ff3a8be64b0f" /><Relationship Type="http://schemas.openxmlformats.org/officeDocument/2006/relationships/notesMaster" Target="/ppt/notesMasters/notesMaster1.xml" Id="R41a4664094b748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fcfbd1b0dc4238" /><Relationship Type="http://schemas.openxmlformats.org/officeDocument/2006/relationships/notesMaster" Target="/ppt/notesMasters/notesMaster1.xml" Id="R9e0b59fccc0e4d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24f8ba883045a9" /><Relationship Type="http://schemas.openxmlformats.org/officeDocument/2006/relationships/notesMaster" Target="/ppt/notesMasters/notesMaster1.xml" Id="Rd0640a9f2ca94e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513d58f8dd42fb" /><Relationship Type="http://schemas.openxmlformats.org/officeDocument/2006/relationships/notesMaster" Target="/ppt/notesMasters/notesMaster1.xml" Id="R11aee68f0194488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3276839b2524510" /><Relationship Type="http://schemas.openxmlformats.org/officeDocument/2006/relationships/notesMaster" Target="/ppt/notesMasters/notesMaster1.xml" Id="R014b140ca717483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afec04bf73641ff" /><Relationship Type="http://schemas.openxmlformats.org/officeDocument/2006/relationships/notesMaster" Target="/ppt/notesMasters/notesMaster1.xml" Id="R2ba9d3686b184ec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223ba4f2e114a8e" /><Relationship Type="http://schemas.openxmlformats.org/officeDocument/2006/relationships/notesMaster" Target="/ppt/notesMasters/notesMaster1.xml" Id="R54dab8d25f64426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6bdb7f50eea4b58" /><Relationship Type="http://schemas.openxmlformats.org/officeDocument/2006/relationships/notesMaster" Target="/ppt/notesMasters/notesMaster1.xml" Id="Rf47732264e8c41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и область: S01–S22; принятые NCut10, SSE10, SSE6.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Ссылки на первичные файлы и SHA-256: report/claim_sources.json и report/figuresdata.json. Это самостоятельные материалы для чтения, устная защита не предполагается.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и область: S04: base.json; официальный consumption.parquet и описание набора.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Ссылки на первичные файлы и SHA-256: report/claim_sources.json и report/figuresdata.json. Это самостоятельные материалы для чтения, устная защита не предполагается.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и область: S02 METHODS.md; научные формулы и нормировка в замороженном коде.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Ссылки на первичные файлы и SHA-256: report/claim_sources.json и report/figuresdata.json. Это самостоятельные материалы для чтения, устная защита не предполагается.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и область: S09 решение K6/K8; S07 RC68; S02 методология.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Ссылки на первичные файлы и SHA-256: report/claim_sources.json и report/figuresdata.json. Это самостоятельные материалы для чтения, устная защита не предполагается.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и область: S04 December_ICVI; индексы определены в S02, undefined не равно нулю.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Ссылки на первичные файлы и SHA-256: report/claim_sources.json и report/figuresdata.json. Это самостоятельные материалы для чтения, устная защита не предполагается.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и область: S11 и supporting_evidence.subsample_stability; K10 повторно не обучался. Данные диаграммы округлены до 6 знаков; на экране 3 знака.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Ссылки на первичные файлы и SHA-256: report/claim_sources.json и report/figuresdata.json. Это самостоятельные материалы для чтения, устная защита не предполагается.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и область: S06 SSE6_CARDS.json. Медианы расходов по группам, рубли; экстремумы среди шести групп. Краткие редакционные названия не меняют состав групп.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Ссылки на первичные файлы и SHA-256: report/claim_sources.json и report/figuresdata.json. Это самостоятельные материалы для чтения, устная защита не предполагается.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и область: S05 CLUSTER_CARDS.json; NCut10_CARD_BINDING.json, исходные G0–G9.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Ссылки на первичные файлы и SHA-256: report/claim_sources.json и report/figuresdata.json. Это самостоятельные материалы для чтения, устная защита не предполагается.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и область: S05 CLUSTER_CARDS.json; NCut10_CARD_BINDING.json, исходные G0–G9.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Ссылки на первичные файлы и SHA-256: report/claim_sources.json и report/figuresdata.json. Это самостоятельные материалы для чтения, устная защита не предполагается.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и область: S09; G7_CONTENT.json и таблица NCut10_to_SSE6. Здесь G7 — исходный raw ID 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Ссылки на первичные файлы и SHA-256: report/claim_sources.json и report/figuresdata.json. Это самостоятельные материалы для чтения, устная защита не предполагается.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и область: S04 temporal_changes. Полные истории — 2016 ID; 174 неполные истории в диаграмму не включены.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Ссылки на первичные файлы и SHA-256: report/claim_sources.json и report/figuresdata.json. Это самостоятельные материалы для чтения, устная защита не предполагается.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и область: S13–S19 report/claim_sources.json; annual.json; атрибутивные ограничения и официальный справочник.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Ссылки на первичные файлы и SHA-256: report/claim_sources.json и report/figuresdata.json. Это самостоятельные материалы для чтения, устная защита не предполагается.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и область: S12/S13: analogue_test/corrected_r02/SUMMARY.json. Это не прогноз и не отдельная проверка SSE6. Данные диаграммы округлены до 6 знаков.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Ссылки на первичные файлы и SHA-256: report/claim_sources.json и report/figuresdata.json. Это самостоятельные материалы для чтения, устная защита не предполагается.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и область: Локальная production-сборка, принятые 35 файлов данных; UI screenshot.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Ссылки на первичные файлы и SHA-256: report/claim_sources.json и report/figuresdata.json. Это самостоятельные материалы для чтения, устная защита не предполагается.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и область: scientific_release/README.md, PACKAGE_MANIFEST.json; S08 принятие полного контроля, S10 K6/K8.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Ссылки на первичные файлы и SHA-256: report/claim_sources.json и report/figuresdata.json. Это самостоятельные материалы для чтения, устная защита не предполагается.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и область: Принятые решения NCut10/SSE10/SSE6 и проверенные отрицательные результаты.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Ссылки на первичные файлы и SHA-256: report/claim_sources.json и report/figuresdata.json. Это самостоятельные материалы для чтения, устная защита не предполагается.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и область: Официальный конкурс и принятые локальные источники; ссылки проекта требуют финальной публикационной проверки.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Ссылки на первичные файлы и SHA-256: report/claim_sources.json и report/figuresdata.json. Это самостоятельные материалы для чтения, устная защита не предполагается.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15f2515c004d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c1f55fea8747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e26ac0995c441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c10d0b5eae4ce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16241ada7442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714732181741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EA1100-9088-4E42-A996-102BE1DFC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546CD57-BD07-4396-B14E-57C2EBCA456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DFAC971-DE34-4348-8C1F-A89AD64A8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D3E6BB-207C-496C-888E-375DA1658C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95C64DF-DE17-41DB-8220-ADDCF1B3C1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F092A40-5053-4C85-8A10-ECBE9AB614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96884D-E628-443B-B0D4-8A1520919B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F30FC0A-F874-43F9-9AB4-DB619F37303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0D83A0-3E99-4951-B1CC-4FD3F7E550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5668451-A6A3-4565-9495-F808DF3712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8da2ff88e64911" /><Relationship Type="http://schemas.openxmlformats.org/officeDocument/2006/relationships/slideLayout" Target="/ppt/slideLayouts/slideLayout1.xml" Id="R516faf8785fe4b6a" /><Relationship Type="http://schemas.openxmlformats.org/officeDocument/2006/relationships/slideLayout" Target="/ppt/slideLayouts/slideLayout2.xml" Id="Ra3408e2fd89c4909" /><Relationship Type="http://schemas.openxmlformats.org/officeDocument/2006/relationships/slideLayout" Target="/ppt/slideLayouts/slideLayout3.xml" Id="R23ac8ac70fb14976" /><Relationship Type="http://schemas.openxmlformats.org/officeDocument/2006/relationships/slideLayout" Target="/ppt/slideLayouts/slideLayout4.xml" Id="R3314a7f80ee04a5f" /><Relationship Type="http://schemas.openxmlformats.org/officeDocument/2006/relationships/slideLayout" Target="/ppt/slideLayouts/slideLayout5.xml" Id="Ra3fa43ebd1654f34" /><Relationship Type="http://schemas.openxmlformats.org/officeDocument/2006/relationships/slideLayout" Target="/ppt/slideLayouts/slideLayout6.xml" Id="R82f2860308cf49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6faf8785fe4b6a"/>
    <p:sldLayoutId xmlns:r="http://schemas.openxmlformats.org/officeDocument/2006/relationships" id="2147483650" r:id="Ra3408e2fd89c4909"/>
    <p:sldLayoutId xmlns:r="http://schemas.openxmlformats.org/officeDocument/2006/relationships" id="2147483651" r:id="R23ac8ac70fb14976"/>
    <p:sldLayoutId xmlns:r="http://schemas.openxmlformats.org/officeDocument/2006/relationships" id="2147483652" r:id="R3314a7f80ee04a5f"/>
    <p:sldLayoutId xmlns:r="http://schemas.openxmlformats.org/officeDocument/2006/relationships" id="2147483653" r:id="Ra3fa43ebd1654f34"/>
    <p:sldLayoutId xmlns:r="http://schemas.openxmlformats.org/officeDocument/2006/relationships" id="2147483654" r:id="R82f2860308cf49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5a0446bbfe4d65" /><Relationship Type="http://schemas.openxmlformats.org/officeDocument/2006/relationships/notesSlide" Target="/ppt/notesSlides/notesSlide1.xml" Id="R0ccc271a845148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d0b2f41abd4ea1" /><Relationship Type="http://schemas.openxmlformats.org/officeDocument/2006/relationships/notesSlide" Target="/ppt/notesSlides/notesSlide2.xml" Id="R8836f931ea4b4c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2f61ea7a774b0e" /><Relationship Type="http://schemas.openxmlformats.org/officeDocument/2006/relationships/notesSlide" Target="/ppt/notesSlides/notesSlide3.xml" Id="R57e2e4c247304f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5fbbe32af84204" /><Relationship Type="http://schemas.openxmlformats.org/officeDocument/2006/relationships/notesSlide" Target="/ppt/notesSlides/notesSlide4.xml" Id="R5e738a81866147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6635bd80154ee1" /><Relationship Type="http://schemas.openxmlformats.org/officeDocument/2006/relationships/notesSlide" Target="/ppt/notesSlides/notesSlide5.xml" Id="R0ba5640dc54740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2f70d22c924f38" /><Relationship Type="http://schemas.openxmlformats.org/officeDocument/2006/relationships/chart" Target="/ppt/slides/charts/chart1.xml" Id="R13e7fd1c26c24de1" /><Relationship Type="http://schemas.openxmlformats.org/officeDocument/2006/relationships/notesSlide" Target="/ppt/notesSlides/notesSlide6.xml" Id="Rdcc0e8f804734c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b976c2005645ae" /><Relationship Type="http://schemas.openxmlformats.org/officeDocument/2006/relationships/notesSlide" Target="/ppt/notesSlides/notesSlide7.xml" Id="R6cede92f790e4d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cd8d2153bf4c6e" /><Relationship Type="http://schemas.openxmlformats.org/officeDocument/2006/relationships/notesSlide" Target="/ppt/notesSlides/notesSlide8.xml" Id="Rb14cabe9e82941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2bee3c0aef4549" /><Relationship Type="http://schemas.openxmlformats.org/officeDocument/2006/relationships/notesSlide" Target="/ppt/notesSlides/notesSlide9.xml" Id="Ree93be580c0b4e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2832ce6586479a" /><Relationship Type="http://schemas.openxmlformats.org/officeDocument/2006/relationships/notesSlide" Target="/ppt/notesSlides/notesSlide10.xml" Id="Rb4493fe6e3fb45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8d88cb5f8e42ed" /><Relationship Type="http://schemas.openxmlformats.org/officeDocument/2006/relationships/chart" Target="/ppt/slides/charts/chart2.xml" Id="R19e6bae9bc6049c0" /><Relationship Type="http://schemas.openxmlformats.org/officeDocument/2006/relationships/notesSlide" Target="/ppt/notesSlides/notesSlide11.xml" Id="R509aa2e72b6741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18f553dd9f4d9b" /><Relationship Type="http://schemas.openxmlformats.org/officeDocument/2006/relationships/notesSlide" Target="/ppt/notesSlides/notesSlide12.xml" Id="R79dff97d15a045a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e8747040b443d7" /><Relationship Type="http://schemas.openxmlformats.org/officeDocument/2006/relationships/chart" Target="/ppt/slides/charts/chart3.xml" Id="Rcdbc30a005c5437f" /><Relationship Type="http://schemas.openxmlformats.org/officeDocument/2006/relationships/notesSlide" Target="/ppt/notesSlides/notesSlide13.xml" Id="R286c249e145a4eb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f17458e72d4bd4" /><Relationship Type="http://schemas.openxmlformats.org/officeDocument/2006/relationships/image" Target="/ppt/media/image.jpeg" Id="Raa47d268a71c40c4" /><Relationship Type="http://schemas.openxmlformats.org/officeDocument/2006/relationships/notesSlide" Target="/ppt/notesSlides/notesSlide14.xml" Id="R442669df06cf4b9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b2182614574aee" /><Relationship Type="http://schemas.openxmlformats.org/officeDocument/2006/relationships/notesSlide" Target="/ppt/notesSlides/notesSlide15.xml" Id="R33c4cb253315461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46a0a4065443d1" /><Relationship Type="http://schemas.openxmlformats.org/officeDocument/2006/relationships/notesSlide" Target="/ppt/notesSlides/notesSlide16.xml" Id="R8cca1be6e8ab4c4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a6913e87f34788" /><Relationship Type="http://schemas.openxmlformats.org/officeDocument/2006/relationships/hyperlink" Target="https://belovmaksimalekseevich.github.io/sberindex-municipal-atlas-2026/" TargetMode="External" Id="R99eeb2efcbe34f73" /><Relationship Type="http://schemas.openxmlformats.org/officeDocument/2006/relationships/hyperlink" Target="https://github.com/belovmaksimalekseevich/sberindex-municipal-atlas-2026" TargetMode="External" Id="Rbadf50f270564df9" /><Relationship Type="http://schemas.openxmlformats.org/officeDocument/2006/relationships/notesSlide" Target="/ppt/notesSlides/notesSlide17.xml" Id="Rcb313f9abd0d48e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NCut10</c:v>
          </c:tx>
          <c:spPr>
            <a:solidFill xmlns:a="http://schemas.openxmlformats.org/drawingml/2006/main">
              <a:srgbClr val="171717"/>
            </a:solidFill>
          </c:spPr>
          <c:cat>
            <c:strRef>
              <c:f>'Chart Data'!$A$2:$A$3</c:f>
              <c:strCache>
                <c:ptCount val="2"/>
                <c:pt idx="0">
                  <c:v>Июнь 2024</c:v>
                </c:pt>
                <c:pt idx="1">
                  <c:v>Декабрь 2024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0.875846</c:v>
                </c:pt>
                <c:pt idx="1">
                  <c:v>0.844596</c:v>
                </c:pt>
              </c:numCache>
            </c:numRef>
          </c:val>
        </c:ser>
        <c:ser>
          <c:idx val="1"/>
          <c:order val="1"/>
          <c:tx>
            <c:v>SSE10</c:v>
          </c:tx>
          <c:spPr>
            <a:solidFill xmlns:a="http://schemas.openxmlformats.org/drawingml/2006/main">
              <a:srgbClr val="417A9B"/>
            </a:solidFill>
          </c:spPr>
          <c:cat>
            <c:strRef>
              <c:f>'Chart Data'!$C$2:$C$3</c:f>
              <c:strCache>
                <c:ptCount val="2"/>
                <c:pt idx="0">
                  <c:v>Июнь 2024</c:v>
                </c:pt>
                <c:pt idx="1">
                  <c:v>Декабрь 2024</c:v>
                </c:pt>
              </c:strCache>
            </c:strRef>
          </c:cat>
          <c:val>
            <c:numRef>
              <c:f>'Chart Data'!$D$2:$D$3</c:f>
              <c:numCache>
                <c:formatCode>0.000</c:formatCode>
                <c:ptCount val="2"/>
                <c:pt idx="0">
                  <c:v>0.858934</c:v>
                </c:pt>
                <c:pt idx="1">
                  <c:v>0.786724</c:v>
                </c:pt>
              </c:numCache>
            </c:numRef>
          </c:val>
        </c:ser>
        <c:ser>
          <c:idx val="2"/>
          <c:order val="2"/>
          <c:tx>
            <c:v>SSE6</c:v>
          </c:tx>
          <c:spPr>
            <a:solidFill xmlns:a="http://schemas.openxmlformats.org/drawingml/2006/main">
              <a:srgbClr val="EEC530"/>
            </a:solidFill>
          </c:spPr>
          <c:cat>
            <c:strRef>
              <c:f>'Chart Data'!$E$2:$E$3</c:f>
              <c:strCache>
                <c:ptCount val="2"/>
                <c:pt idx="0">
                  <c:v>Июнь 2024</c:v>
                </c:pt>
                <c:pt idx="1">
                  <c:v>Декабрь 2024</c:v>
                </c:pt>
              </c:strCache>
            </c:strRef>
          </c:cat>
          <c:val>
            <c:numRef>
              <c:f>'Chart Data'!$F$2:$F$3</c:f>
              <c:numCache>
                <c:formatCode>0.000</c:formatCode>
                <c:ptCount val="2"/>
                <c:pt idx="0">
                  <c:v>0.946929</c:v>
                </c:pt>
                <c:pt idx="1">
                  <c:v>0.925203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1717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8D0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AF6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71717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AFAF6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Без смены группы за 24 месяца</c:v>
          </c:tx>
          <c:spPr>
            <a:solidFill xmlns:a="http://schemas.openxmlformats.org/drawingml/2006/main">
              <a:srgbClr val="EEC530"/>
            </a:solidFill>
          </c:spPr>
          <c:cat>
            <c:strRef>
              <c:f>'Chart Data'!$A$2:$A$4</c:f>
              <c:strCache>
                <c:ptCount val="3"/>
                <c:pt idx="0">
                  <c:v>NCut10</c:v>
                </c:pt>
                <c:pt idx="1">
                  <c:v>SSE10</c:v>
                </c:pt>
                <c:pt idx="2">
                  <c:v>SSE6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188</c:v>
                </c:pt>
                <c:pt idx="1">
                  <c:v>190</c:v>
                </c:pt>
                <c:pt idx="2">
                  <c:v>810</c:v>
                </c:pt>
              </c:numCache>
            </c:numRef>
          </c:val>
        </c:ser>
        <c:ser>
          <c:idx val="1"/>
          <c:order val="1"/>
          <c:tx>
            <c:v>Была хотя бы одна смена</c:v>
          </c:tx>
          <c:spPr>
            <a:solidFill xmlns:a="http://schemas.openxmlformats.org/drawingml/2006/main">
              <a:srgbClr val="171717"/>
            </a:solidFill>
          </c:spPr>
          <c:cat>
            <c:strRef>
              <c:f>'Chart Data'!$C$2:$C$4</c:f>
              <c:strCache>
                <c:ptCount val="3"/>
                <c:pt idx="0">
                  <c:v>NCut10</c:v>
                </c:pt>
                <c:pt idx="1">
                  <c:v>SSE10</c:v>
                </c:pt>
                <c:pt idx="2">
                  <c:v>SSE6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1828</c:v>
                </c:pt>
                <c:pt idx="1">
                  <c:v>1826</c:v>
                </c:pt>
                <c:pt idx="2">
                  <c:v>1206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1717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8D0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AF6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71717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AFAF6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MAE log</c:v>
          </c:tx>
          <c:spPr>
            <a:solidFill xmlns:a="http://schemas.openxmlformats.org/drawingml/2006/main">
              <a:srgbClr val="417A9B"/>
            </a:solidFill>
          </c:spPr>
          <c:cat>
            <c:strRef>
              <c:f>'Chart Data'!$A$2:$A$5</c:f>
              <c:strCache>
                <c:ptCount val="4"/>
                <c:pt idx="0">
                  <c:v>Расходный профиль</c:v>
                </c:pt>
                <c:pt idx="1">
                  <c:v>Контекст без зарплаты</c:v>
                </c:pt>
                <c:pt idx="2">
                  <c:v>NCut10: жёсткий</c:v>
                </c:pt>
                <c:pt idx="3">
                  <c:v>SSE10: жёсткий</c:v>
                </c:pt>
              </c:strCache>
            </c:strRef>
          </c:cat>
          <c:val>
            <c:numRef>
              <c:f>'Chart Data'!$B$2:$B$5</c:f>
              <c:numCache>
                <c:formatCode>0.000</c:formatCode>
                <c:ptCount val="4"/>
                <c:pt idx="0">
                  <c:v>0.154407</c:v>
                </c:pt>
                <c:pt idx="1">
                  <c:v>0.151203</c:v>
                </c:pt>
                <c:pt idx="2">
                  <c:v>0.159489</c:v>
                </c:pt>
                <c:pt idx="3">
                  <c:v>0.157289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1717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1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8D0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AF6"/>
        </a:solidFill>
      </c:spPr>
    </c:plotArea>
    <c:plotVisOnly val="1"/>
  </c:chart>
  <c:spPr>
    <a:solidFill xmlns:a="http://schemas.openxmlformats.org/drawingml/2006/main">
      <a:srgbClr val="FAFAF6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1718B-E50C-4541-8D11-FD8948BB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EEC5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EEC53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C530"/>
                </a:solidFill>
                <a:latin typeface="Arial"/>
                <a:ea typeface="Arial"/>
                <a:cs typeface="Arial"/>
              </a:rPr>
              <a:t>АТЛАС РАСХОДНЫХ ПРОФИЛЕЙ  /  СБЕРИНДЕКС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136FA-21A9-4D7F-AEB6-85934646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14375"/>
            <a:ext cx="11201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Экономически близкие территории</a:t>
            </a:r>
          </a:p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через структуру расходов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BBAA2-D787-4C52-BF03-70304CFB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DDDD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DDD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DDDDD"/>
                </a:solidFill>
                <a:latin typeface="Arial"/>
                <a:ea typeface="Arial"/>
                <a:cs typeface="Arial"/>
              </a:rPr>
              <a:t>Динамическая сеть, подробные профили и проверка цены укрупнения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7FBCF-AA44-41D3-A4F6-8D95A626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DDDD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DDDD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DDDD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3BA10-AA49-4421-988F-34D85F86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BBBB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BBBB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BBBBB"/>
                </a:solidFill>
                <a:latin typeface="Arial"/>
                <a:ea typeface="Arial"/>
                <a:cs typeface="Arial"/>
              </a:rPr>
              <a:t>2023–2024 · модельные средние безналичные расходы жителей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70E9D-257B-46BD-AD8C-E5E9B043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7655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75" b="1">
                <a:solidFill>
                  <a:srgbClr val="EEC5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75" b="1">
                <a:solidFill>
                  <a:srgbClr val="EEC530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EEC530"/>
                </a:solidFill>
                <a:latin typeface="Arial"/>
                <a:ea typeface="Arial"/>
                <a:cs typeface="Arial"/>
              </a:rPr>
              <a:t>2 190 территорий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9BE4E-E2F0-49F4-AA21-794BBE39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24 месяца · 3 представления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779604-2043-4874-AB4C-4D69CF56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14875"/>
            <a:ext cx="10668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DDDD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DDDDD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DDDD"/>
                </a:solidFill>
                <a:latin typeface="Arial"/>
                <a:ea typeface="Arial"/>
                <a:cs typeface="Arial"/>
              </a:rPr>
              <a:t>Сеть помогает сопоставлять наблюдаемые профили. В среднем SSE6 устойчивее к подвыборкам в двух проверенных месяцах, но скрывает часть различий.</a:t>
            </a:r>
          </a:p>
        </p:txBody>
      </p:sp>
    </p:spTree>
    <p:extLst>
      <p:ext uri="{BB962C8B-B14F-4D97-AF65-F5344CB8AC3E}">
        <p14:creationId xmlns:p14="http://schemas.microsoft.com/office/powerpoint/2010/main" val="12084620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6384FE-F832-43D5-B4D3-6A4A099D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05050"/>
                </a:solidFill>
                <a:latin typeface="Arial"/>
                <a:ea typeface="Arial"/>
                <a:cs typeface="Arial"/>
              </a:rPr>
              <a:t>АТЛАС РАСХОДНЫХ ПРОФИЛЕЙ  /  СБЕРИНДЕКС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59B0D-E7E2-4B90-BC59-EE88D48D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14375"/>
            <a:ext cx="11201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Месячный охват меняется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08E5A-907D-408E-8DC2-AFD61C3A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Январь 2023 — декабрь 2024. Пропуск публикации сохраняется как пропуск.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A5E1A-A985-4E8C-89C7-1374B08A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130CE-B45F-415F-B2CA-0F06D796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2023–2024 · модельные средние безналичные расходы жителей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9B52A-BEF2-4F74-BA48-F20E16707449}"/>
              </a:ext>
            </a:extLst>
          </p:cNvPr>
          <p:cNvGraphicFramePr/>
          <p:nvPr/>
        </p:nvGraphicFramePr>
        <p:xfrm>
          <a:off xmlns:a="http://schemas.openxmlformats.org/drawingml/2006/main" x="495300" y="2571750"/>
          <a:ext xmlns:a="http://schemas.openxmlformats.org/drawingml/2006/main" cx="112014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286000"/>
                <a:gridCol w="4914900"/>
              </a:tblGrid>
              <a:tr h="5905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Объём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означает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Уникальные ID / регионы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2 190 / 77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Каталог за весь период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Наблюдаемые ID–месяцы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50 521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Индивидуальная опора каждого месяца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Полные / неполные истории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2 016 / 174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Не все территории наблюдаются 24 месяца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Годовой контекст 2024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1 666 / 69 регионов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Отдельный частичный слой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A296F-CF70-4D4E-9CCF-0477643F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24525"/>
            <a:ext cx="1109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Total — оценка общих расходов, а не доход жителей или оборот территории. Пять показанных категорий не исчерпывают Total.</a:t>
            </a:r>
          </a:p>
        </p:txBody>
      </p:sp>
    </p:spTree>
    <p:extLst>
      <p:ext uri="{BB962C8B-B14F-4D97-AF65-F5344CB8AC3E}">
        <p14:creationId xmlns:p14="http://schemas.microsoft.com/office/powerpoint/2010/main" val="551374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1CF89-B1FC-487E-8D1C-9CC44FAD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05050"/>
                </a:solidFill>
                <a:latin typeface="Arial"/>
                <a:ea typeface="Arial"/>
                <a:cs typeface="Arial"/>
              </a:rPr>
              <a:t>АТЛАС РАСХОДНЫХ ПРОФИЛЕЙ  /  СБЕРИНДЕКС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FE994-DE9F-4310-83A2-2EB13BFC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14375"/>
            <a:ext cx="11201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Близость разделяет уровень и форму расходов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C5885-75C3-4174-80CD-89F76854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Рабочее пространство X6: L, h и четыре координаты HelmertCLR. Для S_Dbw — эквивалентное по расстояниям Y7.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2FB2B-8EFA-4DCC-8490-8272360F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7E8BC-8678-4E6F-A877-1A0BC111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2023–2024 · модельные средние безналичные расходы жителей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C330B-6C08-436B-ACB0-0FF1C58C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57475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d² = 0,5·dL²/sL² + 0,25·dh²/sh² + 0,25·‖dR‖²/sR²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0AA55-BD2C-465E-AEA3-BE1ED31C35BE}"/>
              </a:ext>
            </a:extLst>
          </p:cNvPr>
          <p:cNvGraphicFramePr/>
          <p:nvPr/>
        </p:nvGraphicFramePr>
        <p:xfrm>
          <a:off xmlns:a="http://schemas.openxmlformats.org/drawingml/2006/main" x="495300" y="3552825"/>
          <a:ext xmlns:a="http://schemas.openxmlformats.org/drawingml/2006/main" cx="112014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248650"/>
              </a:tblGrid>
              <a:tr h="4953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Этап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Правило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Признаки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Уровень расходов, контраст пяти категорий с Total, относительная форма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Граф NCut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Union kNN, k = 15 с точными равенствами; w = exp(−d²/2), σ = 1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Общая оценочная сеть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Радиус 1,5 в том же пространстве X6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Сеть экрана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Пять сильнейших связей с равенствами; точное подмножество графа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386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70D1EB-A1D1-4BBA-9461-7CD70E8B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05050"/>
                </a:solidFill>
                <a:latin typeface="Arial"/>
                <a:ea typeface="Arial"/>
                <a:cs typeface="Arial"/>
              </a:rPr>
              <a:t>АТЛАС РАСХОДНЫХ ПРОФИЛЕЙ  /  СБЕРИНДЕКС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267B6-B7A2-41CF-81B3-31B93FC1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14375"/>
            <a:ext cx="11201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Три представления отвечают на разные вопросы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D17EA-5F2D-4136-9BF9-D98F1364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Метод и число групп выбираются вместе с устойчивостью, содержанием и потерей различий.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B9AE2-1C38-46EF-8CEF-78AF13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B03E9-B41E-4E14-91A6-41EAC9D7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2023–2024 · модельные средние безналичные расходы жителей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92A15-33D1-449F-AE61-5D0036870DA1}"/>
              </a:ext>
            </a:extLst>
          </p:cNvPr>
          <p:cNvGraphicFramePr/>
          <p:nvPr/>
        </p:nvGraphicFramePr>
        <p:xfrm>
          <a:off xmlns:a="http://schemas.openxmlformats.org/drawingml/2006/main" x="495300" y="2524125"/>
          <a:ext xmlns:a="http://schemas.openxmlformats.org/drawingml/2006/main" cx="112014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3667125"/>
                <a:gridCol w="5629275"/>
              </a:tblGrid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Представление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Роль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Ограничение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NCut10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Подробный сетевой взгляд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Чувствительность к административной опоре; слабая геометрия отдельных групп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SSE10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Сравнение при том же K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Меняет критерий разбиения, не определение исходной близости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SSE6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Укрупнённый расходный обзор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Выше средняя устойчивость к подвыборкам в июне и декабре; часть профилей объединена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6E4E0-ACBE-482C-9E98-56BECA67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626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Историческое сравнение включает 27 строк с разными опорами и способами сходства. Это не 27 независимых методов и не единый рейтинг.</a:t>
            </a:r>
          </a:p>
        </p:txBody>
      </p:sp>
    </p:spTree>
    <p:extLst>
      <p:ext uri="{BB962C8B-B14F-4D97-AF65-F5344CB8AC3E}">
        <p14:creationId xmlns:p14="http://schemas.microsoft.com/office/powerpoint/2010/main" val="11755109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ADBAA-B437-4306-9934-68D36C8A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05050"/>
                </a:solidFill>
                <a:latin typeface="Arial"/>
                <a:ea typeface="Arial"/>
                <a:cs typeface="Arial"/>
              </a:rPr>
              <a:t>АТЛАС РАСХОДНЫХ ПРОФИЛЕЙ  /  СБЕРИНДЕКС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626AC-288E-404B-96E6-EA253548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14375"/>
            <a:ext cx="11201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Шесть индексов не дают одного победителя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EC240-9E94-40AA-A9F7-82446890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Декабрь 2024: общая наблюдаемая опора 2 103 территории и согласованный оцениватель.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0ED4E-45A1-47B8-9C94-D84DE37D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F98B1-79D7-429D-8AD2-F3A440BB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2023–2024 · модельные средние безналичные расходы жителей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ACA8E-8DEA-4DFD-9EAA-CB4C55200531}"/>
              </a:ext>
            </a:extLst>
          </p:cNvPr>
          <p:cNvGraphicFramePr/>
          <p:nvPr/>
        </p:nvGraphicFramePr>
        <p:xfrm>
          <a:off xmlns:a="http://schemas.openxmlformats.org/drawingml/2006/main" x="495300" y="2505075"/>
          <a:ext xmlns:a="http://schemas.openxmlformats.org/drawingml/2006/main" cx="112014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095500"/>
                <a:gridCol w="2333625"/>
                <a:gridCol w="2333625"/>
                <a:gridCol w="2343150"/>
              </a:tblGrid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Индекс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Направление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NCut10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SSE10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SSE6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SW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Больше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0,222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0,264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0,332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CH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Больше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1 211,5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1 506,1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1 831,5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S_Dbw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Меньше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Не определён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Не определён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0,540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AVI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Больше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0,210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0,241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0,334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AVU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Меньше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0,477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0,444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0,490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MQ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Больше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0,085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0,094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0,142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5B9D4-F716-4B68-8BDA-D91BAA1B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У S_Dbw для K10 — нулевой знаменатель пары. AVU зависит от K и не ранжирует K6/K10; рост SW при укрупнении сам по себе не доказывает улучшения.</a:t>
            </a:r>
          </a:p>
        </p:txBody>
      </p:sp>
    </p:spTree>
    <p:extLst>
      <p:ext uri="{BB962C8B-B14F-4D97-AF65-F5344CB8AC3E}">
        <p14:creationId xmlns:p14="http://schemas.microsoft.com/office/powerpoint/2010/main" val="13779436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B5803-964E-40D4-9DD3-FCD52787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05050"/>
                </a:solidFill>
                <a:latin typeface="Arial"/>
                <a:ea typeface="Arial"/>
                <a:cs typeface="Arial"/>
              </a:rPr>
              <a:t>АТЛАС РАСХОДНЫХ ПРОФИЛЕЙ  /  СБЕРИНДЕКС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DCE05-6E68-44EE-8407-8921BBA1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14375"/>
            <a:ext cx="11201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SSE6 устойчивее на повторных подвыборках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3C516-9C26-49BB-B109-CAFB411D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Средний ARI: сравнение с полной опорой своего метода и K. По 10 одинаковых 80%-ных подвыборок в каждом месяце.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AA497-AC90-4028-AB25-31C32BA0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55716-68D1-4748-8E7E-A142B633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2023–2024 · модельные средние безналичные расходы жителей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0596370E-9CA1-4600-9C83-CA57F16DA8ED}"/>
              </a:ext>
            </a:extLst>
          </p:cNvPr>
          <p:cNvGraphicFramePr/>
          <p:nvPr/>
        </p:nvGraphicFramePr>
        <p:xfrm>
          <a:off xmlns:a="http://schemas.openxmlformats.org/drawingml/2006/main" x="571500" y="2457450"/>
          <a:ext xmlns:a="http://schemas.openxmlformats.org/drawingml/2006/main" cx="10858500" cy="3105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e7fd1c26c24de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8B7464-9C92-4795-8F73-D38A10FE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1104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Худший ARI SSE6: 0,888 и 0,871. Это проверка двух месяцев; устойчивость всех 24 месяцев и к административной опоре для SSE6 не установлена.</a:t>
            </a:r>
          </a:p>
        </p:txBody>
      </p:sp>
    </p:spTree>
    <p:extLst>
      <p:ext uri="{BB962C8B-B14F-4D97-AF65-F5344CB8AC3E}">
        <p14:creationId xmlns:p14="http://schemas.microsoft.com/office/powerpoint/2010/main" val="3715686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2041D-B2A3-4BE6-8A0F-900683FA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05050"/>
                </a:solidFill>
                <a:latin typeface="Arial"/>
                <a:ea typeface="Arial"/>
                <a:cs typeface="Arial"/>
              </a:rPr>
              <a:t>АТЛАС РАСХОДНЫХ ПРОФИЛЕЙ  /  СБЕРИНДЕКС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FED5A-A14C-4EA8-B5EE-8A18B4DD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14375"/>
            <a:ext cx="11201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Шесть групп имеют измеренные расходные профили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14C15-0CBE-48FB-BFE5-921CC310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SSE6, декабрь 2024. G0–G5 — исходные метки. Средний уровень означает близость к медианам выборки.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12429-0104-42CC-8DE3-001D760C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0F476-F65B-482C-B32E-11305454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2023–2024 · модельные средние безналичные расходы жителей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CC98F-0008-4B6F-B435-7B50AB7F7E67}"/>
              </a:ext>
            </a:extLst>
          </p:cNvPr>
          <p:cNvGraphicFramePr/>
          <p:nvPr/>
        </p:nvGraphicFramePr>
        <p:xfrm>
          <a:off xmlns:a="http://schemas.openxmlformats.org/drawingml/2006/main" x="495300" y="2438400"/>
          <a:ext xmlns:a="http://schemas.openxmlformats.org/drawingml/2006/main" cx="11201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905750"/>
                <a:gridCol w="1047750"/>
                <a:gridCol w="2247900"/>
              </a:tblGrid>
              <a:tr h="530679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Группа и профиль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Медиана Total, ₽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G0. Повышенный уровень расходов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398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39 906,0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G1. Низкие расходы, особенно на питание вне дома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465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26 532,0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G2. Средний расходный уровень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467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32 594,0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G3. Самые низкие общие расходы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362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25 189,0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G4. Высокие расходы по большинству категорий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333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59 254,0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G5. Высокие расходы, особенно на продукты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78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52 700,5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05140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2B6E2-A95E-4756-8C6B-A8F4A730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05050"/>
                </a:solidFill>
                <a:latin typeface="Arial"/>
                <a:ea typeface="Arial"/>
                <a:cs typeface="Arial"/>
              </a:rPr>
              <a:t>АТЛАС РАСХОДНЫХ ПРОФИЛЕЙ  /  СБЕРИНДЕКС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2AE64-7451-4BEE-9B06-009804C3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14375"/>
            <a:ext cx="11201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Десять групп сохраняют подробные различия (1/2)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DA305-D8F6-4382-812C-C51E7CAC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NCut10, декабрь 2024. Содержательные названия описывают наблюдаемые медианы и доступный годовой контекст.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CE859-EE46-4385-BA28-1929D56F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EAC60-0DC4-46DE-928D-64EEDA44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2023–2024 · модельные средние безналичные расходы жителей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3069A-825E-4561-AF93-9EB0217B189F}"/>
              </a:ext>
            </a:extLst>
          </p:cNvPr>
          <p:cNvGraphicFramePr/>
          <p:nvPr/>
        </p:nvGraphicFramePr>
        <p:xfrm>
          <a:off xmlns:a="http://schemas.openxmlformats.org/drawingml/2006/main" x="495300" y="2438400"/>
          <a:ext xmlns:a="http://schemas.openxmlformats.org/drawingml/2006/main" cx="1120140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343900"/>
                <a:gridCol w="952500"/>
                <a:gridCol w="1905000"/>
              </a:tblGrid>
              <a:tr h="5334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Группа и профиль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 контекстом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G0. Повышенные расходы крупных по населению территорий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192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146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G1. Небольшие территории с низкими расходами и повышенной ролью маркетплейсов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248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205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G2. Умеренные расходы небольших территорий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362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264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G3. Повышенные расходы при умеренной зарплате организаций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274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193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G4. Минимальный расходный уровень небольших территорий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298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263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5C6F0-2713-40D0-A79B-207930A9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388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Зарплата относится к работникам организаций; это не доход всех жителей. Контекст доступен только для части каждой группы.</a:t>
            </a:r>
          </a:p>
        </p:txBody>
      </p:sp>
    </p:spTree>
    <p:extLst>
      <p:ext uri="{BB962C8B-B14F-4D97-AF65-F5344CB8AC3E}">
        <p14:creationId xmlns:p14="http://schemas.microsoft.com/office/powerpoint/2010/main" val="10646554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92417-64F0-467F-B591-FC56D1DD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05050"/>
                </a:solidFill>
                <a:latin typeface="Arial"/>
                <a:ea typeface="Arial"/>
                <a:cs typeface="Arial"/>
              </a:rPr>
              <a:t>АТЛАС РАСХОДНЫХ ПРОФИЛЕЙ  /  СБЕРИНДЕКС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CEDC7-5EC0-4A1B-B4CE-7540BCC0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14375"/>
            <a:ext cx="11201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Десять групп сохраняют подробные различия (2/2)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FF899-2EF0-4A06-942D-2C4F3F85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NCut10, декабрь 2024. Содержательные названия описывают наблюдаемые медианы и доступный годовой контекст.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E34F8-4A1B-42AF-BFBB-B3B2972E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59CEF-1397-4087-BE45-F9062E79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2023–2024 · модельные средние безналичные расходы жителей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8AE03-B9EE-4622-B5E4-AF9C74D2FF4E}"/>
              </a:ext>
            </a:extLst>
          </p:cNvPr>
          <p:cNvGraphicFramePr/>
          <p:nvPr/>
        </p:nvGraphicFramePr>
        <p:xfrm>
          <a:off xmlns:a="http://schemas.openxmlformats.org/drawingml/2006/main" x="495300" y="2438400"/>
          <a:ext xmlns:a="http://schemas.openxmlformats.org/drawingml/2006/main" cx="1120140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343900"/>
                <a:gridCol w="952500"/>
                <a:gridCol w="1905000"/>
              </a:tblGrid>
              <a:tr h="5334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Группа и профиль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 контекстом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G5. Низкие расходы с иным составом потребления — кандидатный профиль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256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206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G6. Столичная концентрация: высокий уровень расходов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135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114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G7. Высокие расходы и зарплата организаций при низкой доступности рынков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182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132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G8. Столичная концентрация: более высокий уровень расходов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108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99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G9. Столичная концентрация: верхний расходный диапазон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44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C8FEA-7789-4F37-94C1-027555E6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388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Названия не устанавливают отраслевые функции. Исходная G7 остаётся геометрически неоднородной.</a:t>
            </a:r>
          </a:p>
        </p:txBody>
      </p:sp>
    </p:spTree>
    <p:extLst>
      <p:ext uri="{BB962C8B-B14F-4D97-AF65-F5344CB8AC3E}">
        <p14:creationId xmlns:p14="http://schemas.microsoft.com/office/powerpoint/2010/main" val="8306480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040A8-9881-40A7-B250-1ED17614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05050"/>
                </a:solidFill>
                <a:latin typeface="Arial"/>
                <a:ea typeface="Arial"/>
                <a:cs typeface="Arial"/>
              </a:rPr>
              <a:t>АТЛАС РАСХОДНЫХ ПРОФИЛЕЙ  /  СБЕРИНДЕКС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7EB8D-A99F-4E03-BB9C-E462F9EC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14375"/>
            <a:ext cx="11201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Цена укрупнения — потеря отдельных различий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25A0B-6A97-45F7-A18B-6642764A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SSE6 и NCut10 — два самостоятельных разбиения, а не вложенная иерархия.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2A5D5-BC98-4F7D-B231-A2B26AD2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57FF2-6D75-4805-BDE2-272213EB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2023–2024 · модельные средние безналичные расходы жителей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DCB12-E3B8-4299-AEF6-468755B99D78}"/>
              </a:ext>
            </a:extLst>
          </p:cNvPr>
          <p:cNvGraphicFramePr/>
          <p:nvPr/>
        </p:nvGraphicFramePr>
        <p:xfrm>
          <a:off xmlns:a="http://schemas.openxmlformats.org/drawingml/2006/main" x="495300" y="2562225"/>
          <a:ext xmlns:a="http://schemas.openxmlformats.org/drawingml/2006/main" cx="11201400" cy="3219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772150"/>
              </a:tblGrid>
              <a:tr h="6438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объединяется или разделяется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Наблюдение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Три столичные группы NCut: G6, G8, G9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Все 291 ID попали в одну группу SSE6 из 333 ID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Исходная G7: 182 ID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Разделилась между четырьмя SSE6-группами: 34 / 36 / 35 / 77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Геометрия исходной G7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SW при SSE6 ≈ 0,207; при SSE10 ≈ 0,233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Практический выбор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SSE6 — обзор; NCut10 и исходные профили — проверка скрытых различий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CFE09-511E-4AD9-A575-5628BA00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Стабильность разбиения и содержательная однородность конкретной группы — разные свойства.</a:t>
            </a:r>
          </a:p>
        </p:txBody>
      </p:sp>
    </p:spTree>
    <p:extLst>
      <p:ext uri="{BB962C8B-B14F-4D97-AF65-F5344CB8AC3E}">
        <p14:creationId xmlns:p14="http://schemas.microsoft.com/office/powerpoint/2010/main" val="15084673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CD050-8B4F-4AF1-9382-4F4A9DD2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05050"/>
                </a:solidFill>
                <a:latin typeface="Arial"/>
                <a:ea typeface="Arial"/>
                <a:cs typeface="Arial"/>
              </a:rPr>
              <a:t>АТЛАС РАСХОДНЫХ ПРОФИЛЕЙ  /  СБЕРИНДЕКС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C597A-F3A7-48C0-BE86-382BFC28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14375"/>
            <a:ext cx="11201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Во времени сравниваются составы, а не номера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70262-F1C1-4D95-9FD7-ACCFB901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Соседние месяцы сопоставлены по общим ID: максимальная сумма пересечений. Всего 69 сопоставлений для трёх представлений.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774D3-A94B-4B80-BFB7-7ABB0F4F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A0FCF-B983-4041-A8B3-58464935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2023–2024 · модельные средние безналичные расходы жителей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CA54F58E-BBC1-4803-B2EC-142BE5834419}"/>
              </a:ext>
            </a:extLst>
          </p:cNvPr>
          <p:cNvGraphicFramePr/>
          <p:nvPr/>
        </p:nvGraphicFramePr>
        <p:xfrm>
          <a:off xmlns:a="http://schemas.openxmlformats.org/drawingml/2006/main" x="571500" y="2457450"/>
          <a:ext xmlns:a="http://schemas.openxmlformats.org/drawingml/2006/main" cx="10858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e6bae9bc6049c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8A5B7-CBEE-45AB-BB9A-9BC9CFE0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977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SSE6 даёт меньше смен, но часть этого эффекта связана с укрупнением. Изменение группы описывает перестройку состава; причину нужно проверять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19185370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0701E-1517-4EEC-9338-42903567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05050"/>
                </a:solidFill>
                <a:latin typeface="Arial"/>
                <a:ea typeface="Arial"/>
                <a:cs typeface="Arial"/>
              </a:rPr>
              <a:t>АТЛАС РАСХОДНЫХ ПРОФИЛЕЙ  /  СБЕРИНДЕКС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978B2-5281-429A-8ADD-99C9D47C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14375"/>
            <a:ext cx="11201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Внешний контекст уточняет интерпретацию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61A56-4C59-4D27-9A4D-DDF526D5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1 666 территорий в 69 регионах; данные за 2024 год. Расходные признаки и годовой контекст не смешаны.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99F4E-F47D-46C6-B69A-A7EF60E6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F764F-442E-4CAB-9C31-6ADCC7D4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2023–2024 · модельные средние безналичные расходы жителей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820E55-ABF1-45B4-AF53-CFC259DDC394}"/>
              </a:ext>
            </a:extLst>
          </p:cNvPr>
          <p:cNvGraphicFramePr/>
          <p:nvPr/>
        </p:nvGraphicFramePr>
        <p:xfrm>
          <a:off xmlns:a="http://schemas.openxmlformats.org/drawingml/2006/main" x="495300" y="2562225"/>
          <a:ext xmlns:a="http://schemas.openxmlformats.org/drawingml/2006/main" cx="112014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191000"/>
                <a:gridCol w="4057650"/>
              </a:tblGrid>
              <a:tr h="67056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Контекст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Для чего используется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Граница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Население, организации, зарплата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Сопоставление медиан и примеров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Покрытие частичное; зарплата не доход жителей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Доступность рынков, расстояния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Экономико-географическое чтение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Снимок 2024 года, не месячная динамика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Отдельный годовой context6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Сравнение структуры внешних признаков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KMeans на другой опоре; не расходный SSE6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Административный тип и границы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чувствительности результата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Смешанная опора; исторические границы не восстановлены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72122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DCEFB-2D54-40A5-AE83-2FD3E57F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05050"/>
                </a:solidFill>
                <a:latin typeface="Arial"/>
                <a:ea typeface="Arial"/>
                <a:cs typeface="Arial"/>
              </a:rPr>
              <a:t>АТЛАС РАСХОДНЫХ ПРОФИЛЕЙ  /  СБЕРИНДЕКС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D4B2C-E5AC-48B6-A47E-C09CF8EC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14375"/>
            <a:ext cx="11201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Кластерный фильтр не улучшил поиск аналогов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80FB7-FDE2-4C33-A02C-DBD2CE9B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Ретроспективное восстановление скрытой зарплаты организаций: 1 419 ID, 67 регионов. MAE логарифма, с равным весом регионов; меньше лучше.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B3C32-FB40-427C-9E86-C5E266AC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6A8ED-4074-4DD6-A1F1-0E3FB32D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2023–2024 · модельные средние безналичные расходы жителей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3BE1594B-B645-4BDA-97B0-6413DC152F66}"/>
              </a:ext>
            </a:extLst>
          </p:cNvPr>
          <p:cNvGraphicFramePr/>
          <p:nvPr/>
        </p:nvGraphicFramePr>
        <p:xfrm>
          <a:off xmlns:a="http://schemas.openxmlformats.org/drawingml/2006/main" x="571500" y="2457450"/>
          <a:ext xmlns:a="http://schemas.openxmlformats.org/drawingml/2006/main" cx="10858500" cy="3038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bc30a005c5437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FC0FC-F575-4A38-807D-5CED3103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Кластер помогает начать описание, но не заменяет проверку близости исходных профилей. Жёсткое ограничение круга аналогов ухудшило ошибку и покрытие.</a:t>
            </a:r>
          </a:p>
        </p:txBody>
      </p:sp>
    </p:spTree>
    <p:extLst>
      <p:ext uri="{BB962C8B-B14F-4D97-AF65-F5344CB8AC3E}">
        <p14:creationId xmlns:p14="http://schemas.microsoft.com/office/powerpoint/2010/main" val="2897759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7A713-1C88-4724-9D3D-FAA99BA3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05050"/>
                </a:solidFill>
                <a:latin typeface="Arial"/>
                <a:ea typeface="Arial"/>
                <a:cs typeface="Arial"/>
              </a:rPr>
              <a:t>АТЛАС РАСХОДНЫХ ПРОФИЛЕЙ  /  СБЕРИНДЕКС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8A2EB-5312-45D6-87B3-36728C28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14375"/>
            <a:ext cx="11201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Атлас связывает карту, сеть и паспорт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50C6C-C936-47B5-B38E-54D18166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Выбор модели и месяца обновляет группы, показатели, сеть и паспорт выбранной территории. Пропуски и неизвестная география показаны отдельно.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E23A7-7EC7-4BED-9404-5154C01F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78693-030E-4C97-B72C-9BF5EF7F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2023–2024 · модельные средние безналичные расходы жителей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867E2-1CCE-4F58-AE22-7BCC55E448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47d268a71c40c4"/>
          <a:stretch xmlns:a="http://schemas.openxmlformats.org/drawingml/2006/main"/>
        </p:blipFill>
        <p:spPr>
          <a:xfrm xmlns:a="http://schemas.openxmlformats.org/drawingml/2006/main">
            <a:off x="882650" y="2409825"/>
            <a:ext cx="6654800" cy="3743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7E535-A883-4854-B664-35AF3688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3333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3 модели</a:t>
            </a:r>
          </a:p>
          <a:p xmlns:a="http://schemas.openxmlformats.org/drawingml/2006/main">
            <a:pPr>
              <a:defRPr sz="21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24 месяца</a:t>
            </a:r>
          </a:p>
          <a:p xmlns:a="http://schemas.openxmlformats.org/drawingml/2006/main">
            <a:pPr>
              <a:defRPr sz="21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Паспорт территории</a:t>
            </a:r>
          </a:p>
          <a:p xmlns:a="http://schemas.openxmlformats.org/drawingml/2006/main">
            <a:pPr>
              <a:defRPr sz="21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6 индексов качества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CD17A-ACD2-4419-A913-45468E5E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48225"/>
            <a:ext cx="330517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На экране — подмножество рёбер. Проекция расходного пространства не является географической картой.</a:t>
            </a:r>
          </a:p>
        </p:txBody>
      </p:sp>
    </p:spTree>
    <p:extLst>
      <p:ext uri="{BB962C8B-B14F-4D97-AF65-F5344CB8AC3E}">
        <p14:creationId xmlns:p14="http://schemas.microsoft.com/office/powerpoint/2010/main" val="17262165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B9E956-9B83-43EB-9479-CD57A75D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05050"/>
                </a:solidFill>
                <a:latin typeface="Arial"/>
                <a:ea typeface="Arial"/>
                <a:cs typeface="Arial"/>
              </a:rPr>
              <a:t>АТЛАС РАСХОДНЫХ ПРОФИЛЕЙ  /  СБЕРИНДЕКС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3D292-E0B5-46FC-9063-6F3D4AEF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14375"/>
            <a:ext cx="11201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Проверка сохранённых данных отделена от пересчёта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7F74F-D90A-49DB-A15C-02A8ACD5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Переносимый научный комплект включает код, входы, параметры и результаты. Большой рабочий архив ВМ для чтения не нужен.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B48C6-FB77-4EB5-86E7-49B11367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8D93A-D324-46F5-AC89-1D171A64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2023–2024 · модельные средние безналичные расходы жителей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21E14-6E7C-4573-BFFF-04534BA71636}"/>
              </a:ext>
            </a:extLst>
          </p:cNvPr>
          <p:cNvGraphicFramePr/>
          <p:nvPr/>
        </p:nvGraphicFramePr>
        <p:xfrm>
          <a:off xmlns:a="http://schemas.openxmlformats.org/drawingml/2006/main" x="495300" y="2514600"/>
          <a:ext xmlns:a="http://schemas.openxmlformats.org/drawingml/2006/main" cx="112014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7010400"/>
              </a:tblGrid>
              <a:tr h="6667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Действие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 и граница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python -B release.py verify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SHA-256 и 532 сохранённых разбиения; нового обучения нет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Полный контроль на ВМ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504 месячных + 28 контекстных разбиений; принят исходный вычислительный r03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Текущая редакция r04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Те же ядра и результаты; исправлена защита пути CSV-экспорта и документация</a:t>
                      </a:r>
                    </a:p>
                  </a:txBody>
                  <a:tcPr marL="91440" marR="91440" marT="45720" marB="45720">
                    <a:solidFill>
                      <a:srgbClr val="F1F1E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Новый полный запуск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Отдельная команда, Linux, зафиксированные зависимости и новый каталог результата</a:t>
                      </a:r>
                    </a:p>
                  </a:txBody>
                  <a:tcPr marL="91440" marR="91440" marT="45720" marB="45720">
                    <a:solidFill>
                      <a:srgbClr val="FAFA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2DF7D-E6FC-4702-9E1D-55C12233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Полный повтор r04 в чистой внешней упаковке не выполнялся. Побайтная проверка и запуск читателя подтверждены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1396986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ACAFC-F10B-4944-8EF9-0C0F2B1C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EEC5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EEC53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C530"/>
                </a:solidFill>
                <a:latin typeface="Arial"/>
                <a:ea typeface="Arial"/>
                <a:cs typeface="Arial"/>
              </a:rPr>
              <a:t>АТЛАС РАСХОДНЫХ ПРОФИЛЕЙ  /  СБЕРИНДЕКС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36D83-BD23-4F8C-8CDD-CE397462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14375"/>
            <a:ext cx="11201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Результат: система для сравнения расходных профилей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9CFB4-13C7-4FFA-B2A1-B003EF33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DDDD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DDD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DDDDD"/>
                </a:solidFill>
                <a:latin typeface="Arial"/>
                <a:ea typeface="Arial"/>
                <a:cs typeface="Arial"/>
              </a:rPr>
              <a:t>Для каждой территории доступны исходные расходы, группа, динамика состава и результаты проверок.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64F29-5450-4374-91AF-1CEF8255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DDDD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DDDD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DDDD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F26F9-01EC-45D9-A667-D3DD1040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BBBB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BBBB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BBBBB"/>
                </a:solidFill>
                <a:latin typeface="Arial"/>
                <a:ea typeface="Arial"/>
                <a:cs typeface="Arial"/>
              </a:rPr>
              <a:t>2023–2024 · модельные средние безналичные расходы жителей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597FB-DF8F-40E6-8643-5B0AC77E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38425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EEC5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EEC53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EC530"/>
                </a:solidFill>
                <a:latin typeface="Arial"/>
                <a:ea typeface="Arial"/>
                <a:cs typeface="Arial"/>
              </a:rPr>
              <a:t>Что получено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0C2D6-7B6B-49FE-B16A-3C5B2E4C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57550"/>
            <a:ext cx="5238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Ежемесячная сеть близости.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 подробных и 6 укрупнённых профилей.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Проверяемая динамика состава.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Интерактивное сравнение с исходными данными.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17798-D6B6-4266-818C-F9C25AE6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638425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EEC5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EEC53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EC530"/>
                </a:solidFill>
                <a:latin typeface="Arial"/>
                <a:ea typeface="Arial"/>
                <a:cs typeface="Arial"/>
              </a:rPr>
              <a:t>Что остаётся открытым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D4D2B8-C661-41DF-A892-3FFF0956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257550"/>
            <a:ext cx="51911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Универсальные типы локальных экономик.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Причины изменений во времени.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Административная устойчивость SSE6.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Польза кластерного фильтра в других задачах.</a:t>
            </a:r>
          </a:p>
        </p:txBody>
      </p:sp>
    </p:spTree>
    <p:extLst>
      <p:ext uri="{BB962C8B-B14F-4D97-AF65-F5344CB8AC3E}">
        <p14:creationId xmlns:p14="http://schemas.microsoft.com/office/powerpoint/2010/main" val="16871199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FEADE-C2FB-4C6E-B877-F7F5CB60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05050"/>
                </a:solidFill>
                <a:latin typeface="Arial"/>
                <a:ea typeface="Arial"/>
                <a:cs typeface="Arial"/>
              </a:rPr>
              <a:t>АТЛАС РАСХОДНЫХ ПРОФИЛЕЙ  /  СБЕРИНДЕКС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7BD41-471F-451B-A095-D81DB238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14375"/>
            <a:ext cx="11201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Материалы и источники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D05B4-01FE-436F-BA06-12E3BBB8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В отчёте и коде приведены формулы, описания групп, таблицы сравнения и источники чисел.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DB87A-31A5-4BCE-9EC0-8110D1CA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45E8A-0616-4D88-A8B4-72D667C2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2023–2024 · модельные средние безналичные расходы жителей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FB11D-0758-4AB7-ADD5-8DD98751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289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Интерактивный атлас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C5A6C-8090-4791-A0B6-97C0F446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9562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  <a:hlinkClick xmlns:r="http://schemas.openxmlformats.org/officeDocument/2006/relationships" r:id="R99eeb2efcbe34f73"/>
              </a:rPr>
              <a:t>https://belovmaksimalekseevich.github.io/sberindex-municipal-atlas-2026/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C8F54-FC44-4A27-BA91-6BA011C9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8142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Код, данные, инструкции и документы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49B47-B6D2-401F-A396-F9D107D8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48150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  <a:hlinkClick xmlns:r="http://schemas.openxmlformats.org/officeDocument/2006/relationships" r:id="Rbadf50f270564df9"/>
              </a:rPr>
              <a:t>https://github.com/belovmaksimalekseevich/sberindex-municipal-atlas-2026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811D4-79A8-486E-87CE-55E7BA13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10150"/>
            <a:ext cx="1104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Данные: СберИндекс, муниципальные расходы 2023–2024; внешний контекст и география имеют собственные ограничения покрытия и даты. Точные источники и SHA-256 — в реестре отчёта. Положение конкурса: sber.ru/sberindex/konkurs_sberindex.</a:t>
            </a:r>
          </a:p>
        </p:txBody>
      </p:sp>
    </p:spTree>
    <p:extLst>
      <p:ext uri="{BB962C8B-B14F-4D97-AF65-F5344CB8AC3E}">
        <p14:creationId xmlns:p14="http://schemas.microsoft.com/office/powerpoint/2010/main" val="3595248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2026-10-09T16:09:35.5070000Z</dcterms:created>
  <dcterms:modified xsi:type="dcterms:W3CDTF">2026-10-09T16:09:35.5080000Z</dcterms:modified>
</coreProperties>
</file>