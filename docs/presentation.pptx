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3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c6702518534b6c" /><Relationship Type="http://schemas.openxmlformats.org/officeDocument/2006/relationships/extended-properties" Target="/docProps/app.xml" Id="R049a092a68e846de" /><Relationship Type="http://schemas.openxmlformats.org/officeDocument/2006/relationships/officeDocument" Target="/ppt/presentation.xml" Id="Re218ba2b1253473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377a003533643f1"/>
  </p:sldMasterIdLst>
  <p:notesMasterIdLst>
    <p:notesMasterId xmlns:r="http://schemas.openxmlformats.org/officeDocument/2006/relationships" r:id="R9db89f01ce9248c2"/>
  </p:notesMasterIdLst>
  <p:sldIdLst>
    <p:sldId xmlns:r="http://schemas.openxmlformats.org/officeDocument/2006/relationships" id="256" r:id="R65ecbe0f70b54454"/>
    <p:sldId xmlns:r="http://schemas.openxmlformats.org/officeDocument/2006/relationships" id="257" r:id="R84be218b853949bd"/>
    <p:sldId xmlns:r="http://schemas.openxmlformats.org/officeDocument/2006/relationships" id="258" r:id="Rd4d60b2b90a7469f"/>
    <p:sldId xmlns:r="http://schemas.openxmlformats.org/officeDocument/2006/relationships" id="259" r:id="R83bc30503ca74843"/>
    <p:sldId xmlns:r="http://schemas.openxmlformats.org/officeDocument/2006/relationships" id="260" r:id="Rb28daa500c774809"/>
    <p:sldId xmlns:r="http://schemas.openxmlformats.org/officeDocument/2006/relationships" id="261" r:id="R4f26198893004def"/>
    <p:sldId xmlns:r="http://schemas.openxmlformats.org/officeDocument/2006/relationships" id="262" r:id="R3e315437bc3543ae"/>
    <p:sldId xmlns:r="http://schemas.openxmlformats.org/officeDocument/2006/relationships" id="263" r:id="R478bbd9b3bd84e15"/>
    <p:sldId xmlns:r="http://schemas.openxmlformats.org/officeDocument/2006/relationships" id="264" r:id="Re11bb638420e4291"/>
    <p:sldId xmlns:r="http://schemas.openxmlformats.org/officeDocument/2006/relationships" id="265" r:id="R746f74b596ce476a"/>
    <p:sldId xmlns:r="http://schemas.openxmlformats.org/officeDocument/2006/relationships" id="266" r:id="Rc022ae62468047cf"/>
    <p:sldId xmlns:r="http://schemas.openxmlformats.org/officeDocument/2006/relationships" id="267" r:id="R1807321324ad4aa5"/>
    <p:sldId xmlns:r="http://schemas.openxmlformats.org/officeDocument/2006/relationships" id="268" r:id="R8fd03ec3d4dc40ea"/>
    <p:sldId xmlns:r="http://schemas.openxmlformats.org/officeDocument/2006/relationships" id="269" r:id="Rc48c736db4b54372"/>
    <p:sldId xmlns:r="http://schemas.openxmlformats.org/officeDocument/2006/relationships" id="270" r:id="R5fd39900a3834589"/>
    <p:sldId xmlns:r="http://schemas.openxmlformats.org/officeDocument/2006/relationships" id="271" r:id="Rbe0232892c9e4bf0"/>
    <p:sldId xmlns:r="http://schemas.openxmlformats.org/officeDocument/2006/relationships" id="272" r:id="Rb03a46c630fb4d6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fa688d2bbb4de6" /><Relationship Type="http://schemas.openxmlformats.org/officeDocument/2006/relationships/slideMaster" Target="/ppt/slideMasters/slideMaster1.xml" Id="R0377a003533643f1" /><Relationship Type="http://schemas.openxmlformats.org/officeDocument/2006/relationships/notesMaster" Target="/ppt/notesMasters/notesMaster1.xml" Id="R9db89f01ce9248c2" /><Relationship Type="http://schemas.openxmlformats.org/officeDocument/2006/relationships/presProps" Target="/ppt/presProps.xml" Id="Rc26dc61f29e84f84" /><Relationship Type="http://schemas.openxmlformats.org/officeDocument/2006/relationships/tableStyles" Target="/ppt/tableStyles.xml" Id="R5c243fb122074d7f" /><Relationship Type="http://schemas.openxmlformats.org/officeDocument/2006/relationships/slide" Target="/ppt/slides/slide1.xml" Id="R65ecbe0f70b54454" /><Relationship Type="http://schemas.openxmlformats.org/officeDocument/2006/relationships/slide" Target="/ppt/slides/slide2.xml" Id="R84be218b853949bd" /><Relationship Type="http://schemas.openxmlformats.org/officeDocument/2006/relationships/slide" Target="/ppt/slides/slide3.xml" Id="Rd4d60b2b90a7469f" /><Relationship Type="http://schemas.openxmlformats.org/officeDocument/2006/relationships/slide" Target="/ppt/slides/slide4.xml" Id="R83bc30503ca74843" /><Relationship Type="http://schemas.openxmlformats.org/officeDocument/2006/relationships/slide" Target="/ppt/slides/slide5.xml" Id="Rb28daa500c774809" /><Relationship Type="http://schemas.openxmlformats.org/officeDocument/2006/relationships/slide" Target="/ppt/slides/slide6.xml" Id="R4f26198893004def" /><Relationship Type="http://schemas.openxmlformats.org/officeDocument/2006/relationships/slide" Target="/ppt/slides/slide7.xml" Id="R3e315437bc3543ae" /><Relationship Type="http://schemas.openxmlformats.org/officeDocument/2006/relationships/slide" Target="/ppt/slides/slide8.xml" Id="R478bbd9b3bd84e15" /><Relationship Type="http://schemas.openxmlformats.org/officeDocument/2006/relationships/slide" Target="/ppt/slides/slide9.xml" Id="Re11bb638420e4291" /><Relationship Type="http://schemas.openxmlformats.org/officeDocument/2006/relationships/slide" Target="/ppt/slides/slide10.xml" Id="R746f74b596ce476a" /><Relationship Type="http://schemas.openxmlformats.org/officeDocument/2006/relationships/slide" Target="/ppt/slides/slide11.xml" Id="Rc022ae62468047cf" /><Relationship Type="http://schemas.openxmlformats.org/officeDocument/2006/relationships/slide" Target="/ppt/slides/slide12.xml" Id="R1807321324ad4aa5" /><Relationship Type="http://schemas.openxmlformats.org/officeDocument/2006/relationships/slide" Target="/ppt/slides/slide13.xml" Id="R8fd03ec3d4dc40ea" /><Relationship Type="http://schemas.openxmlformats.org/officeDocument/2006/relationships/slide" Target="/ppt/slides/slide14.xml" Id="Rc48c736db4b54372" /><Relationship Type="http://schemas.openxmlformats.org/officeDocument/2006/relationships/slide" Target="/ppt/slides/slide15.xml" Id="R5fd39900a3834589" /><Relationship Type="http://schemas.openxmlformats.org/officeDocument/2006/relationships/slide" Target="/ppt/slides/slide16.xml" Id="Rbe0232892c9e4bf0" /><Relationship Type="http://schemas.openxmlformats.org/officeDocument/2006/relationships/slide" Target="/ppt/slides/slide17.xml" Id="Rb03a46c630fb4d6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1d8c4c7bd094c6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6b6d51c91254d01" /><Relationship Type="http://schemas.openxmlformats.org/officeDocument/2006/relationships/notesMaster" Target="/ppt/notesMasters/notesMaster1.xml" Id="R3048eccc625542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6f2f61f4cf491d" /><Relationship Type="http://schemas.openxmlformats.org/officeDocument/2006/relationships/notesMaster" Target="/ppt/notesMasters/notesMaster1.xml" Id="R10ce8313eaa9450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4744fd584c2448f" /><Relationship Type="http://schemas.openxmlformats.org/officeDocument/2006/relationships/notesMaster" Target="/ppt/notesMasters/notesMaster1.xml" Id="Rbee6daffa07a452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dc49863ae6d4ea1" /><Relationship Type="http://schemas.openxmlformats.org/officeDocument/2006/relationships/notesMaster" Target="/ppt/notesMasters/notesMaster1.xml" Id="R404a9fd6c1ce457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9fec64b8ddd4556" /><Relationship Type="http://schemas.openxmlformats.org/officeDocument/2006/relationships/notesMaster" Target="/ppt/notesMasters/notesMaster1.xml" Id="R9bd8f16df5a2483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935be76075b4673" /><Relationship Type="http://schemas.openxmlformats.org/officeDocument/2006/relationships/notesMaster" Target="/ppt/notesMasters/notesMaster1.xml" Id="R03bb0fb3ead0431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241867636a44e1b" /><Relationship Type="http://schemas.openxmlformats.org/officeDocument/2006/relationships/notesMaster" Target="/ppt/notesMasters/notesMaster1.xml" Id="R787d5459dcfc49e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cc802d4551c4777" /><Relationship Type="http://schemas.openxmlformats.org/officeDocument/2006/relationships/notesMaster" Target="/ppt/notesMasters/notesMaster1.xml" Id="R0f904a6ef36d42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16b8cc3f44449ac" /><Relationship Type="http://schemas.openxmlformats.org/officeDocument/2006/relationships/notesMaster" Target="/ppt/notesMasters/notesMaster1.xml" Id="R700a6c870c0d465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ec2db9477fc424b" /><Relationship Type="http://schemas.openxmlformats.org/officeDocument/2006/relationships/notesMaster" Target="/ppt/notesMasters/notesMaster1.xml" Id="Ra12a687fcf774cb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ef0667c670644a9" /><Relationship Type="http://schemas.openxmlformats.org/officeDocument/2006/relationships/notesMaster" Target="/ppt/notesMasters/notesMaster1.xml" Id="R535808d3a32c49e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afd4343b4f54a94" /><Relationship Type="http://schemas.openxmlformats.org/officeDocument/2006/relationships/notesMaster" Target="/ppt/notesMasters/notesMaster1.xml" Id="R19cb198488374f2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ec3a3120cb54de0" /><Relationship Type="http://schemas.openxmlformats.org/officeDocument/2006/relationships/notesMaster" Target="/ppt/notesMasters/notesMaster1.xml" Id="Re3bdf44a2148405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7d476ce7cea48f2" /><Relationship Type="http://schemas.openxmlformats.org/officeDocument/2006/relationships/notesMaster" Target="/ppt/notesMasters/notesMaster1.xml" Id="Rcc34fa19976e460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17781bc0e724f5c" /><Relationship Type="http://schemas.openxmlformats.org/officeDocument/2006/relationships/notesMaster" Target="/ppt/notesMasters/notesMaster1.xml" Id="R5000cd1a6df04df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6bf76abb95740d8" /><Relationship Type="http://schemas.openxmlformats.org/officeDocument/2006/relationships/notesMaster" Target="/ppt/notesMasters/notesMaster1.xml" Id="R8f9ac0a97db34bb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d5213af8c4b44e3" /><Relationship Type="http://schemas.openxmlformats.org/officeDocument/2006/relationships/notesMaster" Target="/ppt/notesMasters/notesMaster1.xml" Id="R6a3a1cf07d3340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область: S01–S22; принятые NCut10, SSE10, SSE6.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Ссылки на первичные файлы и SHA-256: report/claim_sources.json и report/figuresdata.json. Это самостоятельные материалы для чтения, устная защита не предполагается.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область: S04: base.json; официальный consumption.parquet и описание набора.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Ссылки на первичные файлы и SHA-256: report/claim_sources.json и report/figuresdata.json. Это самостоятельные материалы для чтения, устная защита не предполагается.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область: S02 METHODS.md; L = ln Total, h = ln(GM(c)/Total), R = H·CLR/√5. Рабочее пространство X6: L, h и четыре R. Для S_Dbw — эквивалентное по расстояниям Y7. Научные формулы и нормировка в замороженном коде.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Ссылки на первичные файлы и SHA-256: report/claim_sources.json и report/figuresdata.json. Это самостоятельные материалы для чтения, устная защита не предполагается.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область: S09 решение K6/K8; S07 RC68; S02 методология.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Ссылки на первичные файлы и SHA-256: report/claim_sources.json и report/figuresdata.json. Это самостоятельные материалы для чтения, устная защита не предполагается.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область: S04 December_ICVI; индексы определены в S02, undefined не равно нулю.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Ссылки на первичные файлы и SHA-256: report/claim_sources.json и report/figuresdata.json. Это самостоятельные материалы для чтения, устная защита не предполагается.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область: S11 и supporting_evidence.subsample_stability; K10 повторно не обучался. Данные диаграммы округлены до 6 знаков; на экране 3 знака.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Ссылки на первичные файлы и SHA-256: report/claim_sources.json и report/figuresdata.json. Это самостоятельные материалы для чтения, устная защита не предполагается.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область: S06 SSE6_CARDS.json. Медианы расходов по группам, рубли; экстремумы среди шести групп. Краткие редакционные названия не меняют состав групп.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Ссылки на первичные файлы и SHA-256: report/claim_sources.json и report/figuresdata.json. Это самостоятельные материалы для чтения, устная защита не предполагается.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область: S05 CLUSTER_CARDS.json; NCut10_CARD_BINDING.json, исходные G0–G9.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Ссылки на первичные файлы и SHA-256: report/claim_sources.json и report/figuresdata.json. Это самостоятельные материалы для чтения, устная защита не предполагается.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область: S05 CLUSTER_CARDS.json; NCut10_CARD_BINDING.json, исходные G0–G9.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Ссылки на первичные файлы и SHA-256: report/claim_sources.json и report/figuresdata.json. Это самостоятельные материалы для чтения, устная защита не предполагается.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область: S09; G7_CONTENT.json и таблица NCut10_to_SSE6. Здесь G7 — исходный raw ID 7.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Ссылки на первичные файлы и SHA-256: report/claim_sources.json и report/figuresdata.json. Это самостоятельные материалы для чтения, устная защита не предполагается.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область: S04 temporal_changes. Полные истории — 2016 ID; 174 неполные истории в диаграмму не включены.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Ссылки на первичные файлы и SHA-256: report/claim_sources.json и report/figuresdata.json. Это самостоятельные материалы для чтения, устная защита не предполагается.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область: S13–S19 report/claim_sources.json; annual.json; атрибутивные ограничения и официальный справочник.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Ссылки на первичные файлы и SHA-256: report/claim_sources.json и report/figuresdata.json. Это самостоятельные материалы для чтения, устная защита не предполагается.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область: S12/S13: analogue_test/corrected_r02/SUMMARY.json. Это не прогноз и не отдельная проверка SSE6. Данные диаграммы округлены до 6 знаков.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Ссылки на первичные файлы и SHA-256: report/claim_sources.json и report/figuresdata.json. Это самостоятельные материалы для чтения, устная защита не предполагается.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область: Отчёт §10, S16: пример Екатеринбурга (ID 1971), пять кандидатов после заранее заданных фильтров. Городской округ, население от половины до удвоенного, Total ±10%, вне Москвы и Санкт-Петербурга. Первые два контекстных аналога относятся к другой NCut10-группе. Изображение: локальная production-сборка, принятые 35 файлов данных; UI screenshot.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Ссылки на первичные файлы и SHA-256: report/claim_sources.json и report/figuresdata.json. Это самостоятельные материалы для чтения, устная защита не предполагается.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область: scientific_release/README.md, PACKAGE_MANIFEST.json; S08 принятие полного контроля, S10 K6/K8.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Ссылки на первичные файлы и SHA-256: report/claim_sources.json и report/figuresdata.json. Это самостоятельные материалы для чтения, устная защита не предполагается.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область: Принятые решения NCut10/SSE10/SSE6 и проверенные отрицательные результаты.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Ссылки на первичные файлы и SHA-256: report/claim_sources.json и report/figuresdata.json. Это самостоятельные материалы для чтения, устная защита не предполагается.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и область: Официальный конкурс и принятые локальные источники; ссылки проекта требуют финальной публикационной проверки.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Ссылки на первичные файлы и SHA-256: report/claim_sources.json и report/figuresdata.json. Это самостоятельные материалы для чтения, устная защита не предполагается.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a76b8d0041497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17f7adf29a4a4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494668c3e34a7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1c7570a5d947a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e13a92cbfd44d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fec6684503440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083429B-05F3-4599-B781-A73A9418BA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DC092DF-E1E4-49A1-A2A9-F5C5862E5FF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0D4CB0F-74AC-4375-950E-DCC913236D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7A647C2-7BEC-4322-9D5A-5C994B2879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CE7DA65-9D65-4113-B859-330A48CAEB0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EB41FA0-47C6-4609-AB57-7092653932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EBDBC04-F812-43B6-BD85-E1457D111F9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2FA1343-7AC9-4D2D-8E8C-97881206D5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A59084-BBE2-4133-8658-4BA57094AF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975C75E-4FA0-4873-82B4-8DBB221E77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46faa245df740fb" /><Relationship Type="http://schemas.openxmlformats.org/officeDocument/2006/relationships/slideLayout" Target="/ppt/slideLayouts/slideLayout1.xml" Id="R42d92b4f339e4b91" /><Relationship Type="http://schemas.openxmlformats.org/officeDocument/2006/relationships/slideLayout" Target="/ppt/slideLayouts/slideLayout2.xml" Id="Rf47eb90e01ff4c92" /><Relationship Type="http://schemas.openxmlformats.org/officeDocument/2006/relationships/slideLayout" Target="/ppt/slideLayouts/slideLayout3.xml" Id="Ra84f5011e43c4c17" /><Relationship Type="http://schemas.openxmlformats.org/officeDocument/2006/relationships/slideLayout" Target="/ppt/slideLayouts/slideLayout4.xml" Id="R63f16ba2b76a46df" /><Relationship Type="http://schemas.openxmlformats.org/officeDocument/2006/relationships/slideLayout" Target="/ppt/slideLayouts/slideLayout5.xml" Id="Rbc50ef8555254bc9" /><Relationship Type="http://schemas.openxmlformats.org/officeDocument/2006/relationships/slideLayout" Target="/ppt/slideLayouts/slideLayout6.xml" Id="R2720a55ed9c64e8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2d92b4f339e4b91"/>
    <p:sldLayoutId xmlns:r="http://schemas.openxmlformats.org/officeDocument/2006/relationships" id="2147483650" r:id="Rf47eb90e01ff4c92"/>
    <p:sldLayoutId xmlns:r="http://schemas.openxmlformats.org/officeDocument/2006/relationships" id="2147483651" r:id="Ra84f5011e43c4c17"/>
    <p:sldLayoutId xmlns:r="http://schemas.openxmlformats.org/officeDocument/2006/relationships" id="2147483652" r:id="R63f16ba2b76a46df"/>
    <p:sldLayoutId xmlns:r="http://schemas.openxmlformats.org/officeDocument/2006/relationships" id="2147483653" r:id="Rbc50ef8555254bc9"/>
    <p:sldLayoutId xmlns:r="http://schemas.openxmlformats.org/officeDocument/2006/relationships" id="2147483654" r:id="R2720a55ed9c64e8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a48ff138dd45dc" /><Relationship Type="http://schemas.openxmlformats.org/officeDocument/2006/relationships/notesSlide" Target="/ppt/notesSlides/notesSlide1.xml" Id="Rfb1201e81c494b3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18849146e64af7" /><Relationship Type="http://schemas.openxmlformats.org/officeDocument/2006/relationships/notesSlide" Target="/ppt/notesSlides/notesSlide2.xml" Id="Rfd0e78c8a9f64e3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8a727c378a4fc8" /><Relationship Type="http://schemas.openxmlformats.org/officeDocument/2006/relationships/notesSlide" Target="/ppt/notesSlides/notesSlide3.xml" Id="Rb2c27487c780476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2e0af97c1e423d" /><Relationship Type="http://schemas.openxmlformats.org/officeDocument/2006/relationships/notesSlide" Target="/ppt/notesSlides/notesSlide4.xml" Id="R842b81cfab5d40b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e9d097511f4d4e" /><Relationship Type="http://schemas.openxmlformats.org/officeDocument/2006/relationships/notesSlide" Target="/ppt/notesSlides/notesSlide5.xml" Id="R1a40af3a27e443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c8b65887cb43e5" /><Relationship Type="http://schemas.openxmlformats.org/officeDocument/2006/relationships/chart" Target="/ppt/slides/charts/chart1.xml" Id="Raef0f7759c0d40c4" /><Relationship Type="http://schemas.openxmlformats.org/officeDocument/2006/relationships/notesSlide" Target="/ppt/notesSlides/notesSlide6.xml" Id="R71c4ef9eb1bb43f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a5ba1735aa4936" /><Relationship Type="http://schemas.openxmlformats.org/officeDocument/2006/relationships/notesSlide" Target="/ppt/notesSlides/notesSlide7.xml" Id="R39ce7fbfe8e9418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b95f79e9f643e0" /><Relationship Type="http://schemas.openxmlformats.org/officeDocument/2006/relationships/notesSlide" Target="/ppt/notesSlides/notesSlide8.xml" Id="Rbdae775ed5ea471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c7f208c3094ea1" /><Relationship Type="http://schemas.openxmlformats.org/officeDocument/2006/relationships/notesSlide" Target="/ppt/notesSlides/notesSlide9.xml" Id="Raa5a2664dbc9400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a8d06a894d4980" /><Relationship Type="http://schemas.openxmlformats.org/officeDocument/2006/relationships/notesSlide" Target="/ppt/notesSlides/notesSlide10.xml" Id="R3e292791f13c4b2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edd37355ca49ce" /><Relationship Type="http://schemas.openxmlformats.org/officeDocument/2006/relationships/chart" Target="/ppt/slides/charts/chart2.xml" Id="Rb60d93c3799b4223" /><Relationship Type="http://schemas.openxmlformats.org/officeDocument/2006/relationships/notesSlide" Target="/ppt/notesSlides/notesSlide11.xml" Id="R091c51b3fa6546f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068f3df797460f" /><Relationship Type="http://schemas.openxmlformats.org/officeDocument/2006/relationships/notesSlide" Target="/ppt/notesSlides/notesSlide12.xml" Id="Rf38a35776cb547a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69ca895c084708" /><Relationship Type="http://schemas.openxmlformats.org/officeDocument/2006/relationships/chart" Target="/ppt/slides/charts/chart3.xml" Id="R8911ac79d5fc4eb6" /><Relationship Type="http://schemas.openxmlformats.org/officeDocument/2006/relationships/notesSlide" Target="/ppt/notesSlides/notesSlide13.xml" Id="R52df940682214f4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39c5f46e964da7" /><Relationship Type="http://schemas.openxmlformats.org/officeDocument/2006/relationships/image" Target="/ppt/media/image.jpeg" Id="R94b1de06d99d4ee2" /><Relationship Type="http://schemas.openxmlformats.org/officeDocument/2006/relationships/notesSlide" Target="/ppt/notesSlides/notesSlide14.xml" Id="Rc17d1d0b74904cc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8693149723479c" /><Relationship Type="http://schemas.openxmlformats.org/officeDocument/2006/relationships/notesSlide" Target="/ppt/notesSlides/notesSlide15.xml" Id="R1811274d9aa3436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425ea411404df0" /><Relationship Type="http://schemas.openxmlformats.org/officeDocument/2006/relationships/notesSlide" Target="/ppt/notesSlides/notesSlide16.xml" Id="Rd9866dca4e8a44d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cf4ec38f21467f" /><Relationship Type="http://schemas.openxmlformats.org/officeDocument/2006/relationships/hyperlink" Target="https://belovmaksimalekseevich.github.io/sberindex-municipal-atlas-2026/" TargetMode="External" Id="R7ff7361f2c01464a" /><Relationship Type="http://schemas.openxmlformats.org/officeDocument/2006/relationships/hyperlink" Target="https://github.com/belovmaksimalekseevich/sberindex-municipal-atlas-2026" TargetMode="External" Id="Rd2ef0cbc603746a0" /><Relationship Type="http://schemas.openxmlformats.org/officeDocument/2006/relationships/notesSlide" Target="/ppt/notesSlides/notesSlide17.xml" Id="R0165a4fe1344414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NCut10</c:v>
          </c:tx>
          <c:spPr>
            <a:solidFill xmlns:a="http://schemas.openxmlformats.org/drawingml/2006/main">
              <a:srgbClr val="171717"/>
            </a:solidFill>
          </c:spPr>
          <c:cat>
            <c:strRef>
              <c:f>'Chart Data'!$A$2:$A$3</c:f>
              <c:strCache>
                <c:ptCount val="2"/>
                <c:pt idx="0">
                  <c:v>Июнь 2024</c:v>
                </c:pt>
                <c:pt idx="1">
                  <c:v>Декабрь 2024</c:v>
                </c:pt>
              </c:strCache>
            </c:strRef>
          </c:cat>
          <c:val>
            <c:numRef>
              <c:f>'Chart Data'!$B$2:$B$3</c:f>
              <c:numCache>
                <c:formatCode>0.000</c:formatCode>
                <c:ptCount val="2"/>
                <c:pt idx="0">
                  <c:v>0.875846</c:v>
                </c:pt>
                <c:pt idx="1">
                  <c:v>0.844596</c:v>
                </c:pt>
              </c:numCache>
            </c:numRef>
          </c:val>
        </c:ser>
        <c:ser>
          <c:idx val="1"/>
          <c:order val="1"/>
          <c:tx>
            <c:v>SSE10</c:v>
          </c:tx>
          <c:spPr>
            <a:solidFill xmlns:a="http://schemas.openxmlformats.org/drawingml/2006/main">
              <a:srgbClr val="417A9B"/>
            </a:solidFill>
          </c:spPr>
          <c:cat>
            <c:strRef>
              <c:f>'Chart Data'!$C$2:$C$3</c:f>
              <c:strCache>
                <c:ptCount val="2"/>
                <c:pt idx="0">
                  <c:v>Июнь 2024</c:v>
                </c:pt>
                <c:pt idx="1">
                  <c:v>Декабрь 2024</c:v>
                </c:pt>
              </c:strCache>
            </c:strRef>
          </c:cat>
          <c:val>
            <c:numRef>
              <c:f>'Chart Data'!$D$2:$D$3</c:f>
              <c:numCache>
                <c:formatCode>0.000</c:formatCode>
                <c:ptCount val="2"/>
                <c:pt idx="0">
                  <c:v>0.858934</c:v>
                </c:pt>
                <c:pt idx="1">
                  <c:v>0.786724</c:v>
                </c:pt>
              </c:numCache>
            </c:numRef>
          </c:val>
        </c:ser>
        <c:ser>
          <c:idx val="2"/>
          <c:order val="2"/>
          <c:tx>
            <c:v>SSE6</c:v>
          </c:tx>
          <c:spPr>
            <a:solidFill xmlns:a="http://schemas.openxmlformats.org/drawingml/2006/main">
              <a:srgbClr val="EEC530"/>
            </a:solidFill>
          </c:spPr>
          <c:cat>
            <c:strRef>
              <c:f>'Chart Data'!$E$2:$E$3</c:f>
              <c:strCache>
                <c:ptCount val="2"/>
                <c:pt idx="0">
                  <c:v>Июнь 2024</c:v>
                </c:pt>
                <c:pt idx="1">
                  <c:v>Декабрь 2024</c:v>
                </c:pt>
              </c:strCache>
            </c:strRef>
          </c:cat>
          <c:val>
            <c:numRef>
              <c:f>'Chart Data'!$F$2:$F$3</c:f>
              <c:numCache>
                <c:formatCode>0.000</c:formatCode>
                <c:ptCount val="2"/>
                <c:pt idx="0">
                  <c:v>0.946929</c:v>
                </c:pt>
                <c:pt idx="1">
                  <c:v>0.925203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717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.0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8D0"/>
              </a:solidFill>
            </a:ln>
          </c:spPr>
        </c:majorGridlines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AFAF6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71717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AFAF6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Без смены группы за 24 месяца</c:v>
          </c:tx>
          <c:spPr>
            <a:solidFill xmlns:a="http://schemas.openxmlformats.org/drawingml/2006/main">
              <a:srgbClr val="EEC530"/>
            </a:solidFill>
          </c:spPr>
          <c:cat>
            <c:strRef>
              <c:f>'Chart Data'!$A$2:$A$4</c:f>
              <c:strCache>
                <c:ptCount val="3"/>
                <c:pt idx="0">
                  <c:v>NCut10</c:v>
                </c:pt>
                <c:pt idx="1">
                  <c:v>SSE10</c:v>
                </c:pt>
                <c:pt idx="2">
                  <c:v>SSE6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188</c:v>
                </c:pt>
                <c:pt idx="1">
                  <c:v>190</c:v>
                </c:pt>
                <c:pt idx="2">
                  <c:v>810</c:v>
                </c:pt>
              </c:numCache>
            </c:numRef>
          </c:val>
        </c:ser>
        <c:ser>
          <c:idx val="1"/>
          <c:order val="1"/>
          <c:tx>
            <c:v>Была хотя бы одна смена</c:v>
          </c:tx>
          <c:spPr>
            <a:solidFill xmlns:a="http://schemas.openxmlformats.org/drawingml/2006/main">
              <a:srgbClr val="171717"/>
            </a:solidFill>
          </c:spPr>
          <c:cat>
            <c:strRef>
              <c:f>'Chart Data'!$C$2:$C$4</c:f>
              <c:strCache>
                <c:ptCount val="3"/>
                <c:pt idx="0">
                  <c:v>NCut10</c:v>
                </c:pt>
                <c:pt idx="1">
                  <c:v>SSE10</c:v>
                </c:pt>
                <c:pt idx="2">
                  <c:v>SSE6</c:v>
                </c:pt>
              </c:strCache>
            </c:strRef>
          </c:cat>
          <c:val>
            <c:numRef>
              <c:f>'Chart Data'!$D$2:$D$4</c:f>
              <c:numCache>
                <c:formatCode>0</c:formatCode>
                <c:ptCount val="3"/>
                <c:pt idx="0">
                  <c:v>1828</c:v>
                </c:pt>
                <c:pt idx="1">
                  <c:v>1826</c:v>
                </c:pt>
                <c:pt idx="2">
                  <c:v>1206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717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22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8D0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AFAF6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71717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AFAF6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MAE логарифма</c:v>
          </c:tx>
          <c:spPr>
            <a:solidFill xmlns:a="http://schemas.openxmlformats.org/drawingml/2006/main">
              <a:srgbClr val="417A9B"/>
            </a:solidFill>
          </c:spPr>
          <c:cat>
            <c:strRef>
              <c:f>'Chart Data'!$A$2:$A$5</c:f>
              <c:strCache>
                <c:ptCount val="4"/>
                <c:pt idx="0">
                  <c:v>Расходный профиль</c:v>
                </c:pt>
                <c:pt idx="1">
                  <c:v>Контекст без зарплаты</c:v>
                </c:pt>
                <c:pt idx="2">
                  <c:v>NCut10: жёсткий</c:v>
                </c:pt>
                <c:pt idx="3">
                  <c:v>SSE10: жёсткий</c:v>
                </c:pt>
              </c:strCache>
            </c:strRef>
          </c:cat>
          <c:val>
            <c:numRef>
              <c:f>'Chart Data'!$B$2:$B$5</c:f>
              <c:numCache>
                <c:formatCode>0.000</c:formatCode>
                <c:ptCount val="4"/>
                <c:pt idx="0">
                  <c:v>0.154407</c:v>
                </c:pt>
                <c:pt idx="1">
                  <c:v>0.151203</c:v>
                </c:pt>
                <c:pt idx="2">
                  <c:v>0.159489</c:v>
                </c:pt>
                <c:pt idx="3">
                  <c:v>0.157289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1717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18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8D0"/>
              </a:solidFill>
            </a:ln>
          </c:spPr>
        </c:majorGridlines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AFAF6"/>
        </a:solidFill>
      </c:spPr>
    </c:plotArea>
    <c:plotVisOnly val="1"/>
  </c:chart>
  <c:spPr>
    <a:solidFill xmlns:a="http://schemas.openxmlformats.org/drawingml/2006/main">
      <a:srgbClr val="FAFAF6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F841F3-C45F-425A-A7E5-3A5D1C47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EEC53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EEC53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EC530"/>
                </a:solidFill>
                <a:latin typeface="Arial"/>
                <a:ea typeface="Arial"/>
                <a:cs typeface="Arial"/>
              </a:rPr>
              <a:t>АТЛАС РАСХОДНЫХ ПРОФИЛЕЙ  /  СБЕРИНДЕКС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7ED1A0-4893-4604-B58D-091A3F73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14375"/>
            <a:ext cx="11201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Близость территорий</a:t>
            </a:r>
          </a:p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 уровню и составу расходов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1F4738-7BFD-4EBD-ABC7-B5140EBC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DDDDD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DDDD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DDDDD"/>
                </a:solidFill>
                <a:latin typeface="Arial"/>
                <a:ea typeface="Arial"/>
                <a:cs typeface="Arial"/>
              </a:rPr>
              <a:t>Динамическая сеть, подробные профили и проверка цены укрупнения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D8E07-CB95-4992-9C54-C788FC9D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DDDDD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DDDDD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DDDDD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FFD638-4349-4745-9EDC-47B1DDE4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BBBBB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BBBBB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BBBBBB"/>
                </a:solidFill>
                <a:latin typeface="Arial"/>
                <a:ea typeface="Arial"/>
                <a:cs typeface="Arial"/>
              </a:rPr>
              <a:t>2023–2024 · модельные средние безналичные расходы жителей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1DE7A1-D025-4C32-8859-41E3783C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76550"/>
            <a:ext cx="590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975" b="1">
                <a:solidFill>
                  <a:srgbClr val="EEC53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975" b="1">
                <a:solidFill>
                  <a:srgbClr val="EEC530"/>
                </a:solidFill>
                <a:latin typeface="Arial"/>
                <a:ea typeface="Arial"/>
                <a:cs typeface="Arial"/>
              </a:defRPr>
            </a:pPr>
            <a:r>
              <a:rPr sz="3975" b="1">
                <a:solidFill>
                  <a:srgbClr val="EEC530"/>
                </a:solidFill>
                <a:latin typeface="Arial"/>
                <a:ea typeface="Arial"/>
                <a:cs typeface="Arial"/>
              </a:rPr>
              <a:t>2 190 территорий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9A094E-DB97-4E5B-B480-B5EA24BC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24 месяца · 3 представления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AB2024-328E-4D24-B48C-C2D1E4CFA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14875"/>
            <a:ext cx="1066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DDDDD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DDDDD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DDDD"/>
                </a:solidFill>
                <a:latin typeface="Arial"/>
                <a:ea typeface="Arial"/>
                <a:cs typeface="Arial"/>
              </a:rPr>
              <a:t>Сеть помогает сопоставлять наблюдаемые профили. В среднем SSE6 устойчивее к подвыборкам в двух проверенных месяцах, но скрывает часть различий.</a:t>
            </a:r>
          </a:p>
        </p:txBody>
      </p:sp>
    </p:spTree>
    <p:extLst>
      <p:ext uri="{BB962C8B-B14F-4D97-AF65-F5344CB8AC3E}">
        <p14:creationId xmlns:p14="http://schemas.microsoft.com/office/powerpoint/2010/main" val="2018065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E1889D-93DE-476B-ADEC-E757416C2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05050"/>
                </a:solidFill>
                <a:latin typeface="Arial"/>
                <a:ea typeface="Arial"/>
                <a:cs typeface="Arial"/>
              </a:rPr>
              <a:t>АТЛАС РАСХОДНЫХ ПРОФИЛЕЙ  /  СБЕРИНДЕКС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C58307-2777-44C2-8C78-428242C3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14375"/>
            <a:ext cx="11201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Месячный охват меняется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8D8EF8-DA12-4A26-B0FD-12A523901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Январь 2023 — декабрь 2024. Пропуск публикации сохраняется как пропуск.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3C8A4C-2949-4ED5-8D36-ADCF6947C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DEE343-8B59-4348-B784-02FD7E58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2023–2024 · модельные средние безналичные расходы жителей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A68250-17C0-46C1-B5E8-A102921A07E0}"/>
              </a:ext>
            </a:extLst>
          </p:cNvPr>
          <p:cNvGraphicFramePr/>
          <p:nvPr/>
        </p:nvGraphicFramePr>
        <p:xfrm>
          <a:off xmlns:a="http://schemas.openxmlformats.org/drawingml/2006/main" x="495300" y="2571750"/>
          <a:ext xmlns:a="http://schemas.openxmlformats.org/drawingml/2006/main" cx="112014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2286000"/>
                <a:gridCol w="4914900"/>
              </a:tblGrid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Показатель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Объём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Что означает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Уникальные ID / регионы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2 190 / 77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Каталог за весь период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Наблюдаемые ID–месяцы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50 521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Индивидуальная опора каждого месяца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Полные / неполные истории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2 016 / 174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Не все территории наблюдаются 24 месяца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Годовой контекст 2024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1 666 / 69 регионов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Отдельный частичный слой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C33C91-F363-4524-9F23-DDDA6FD13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24525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Total — оценка общих расходов, а не доход жителей или оборот территории. Пять показанных категорий не исчерпывают Total.</a:t>
            </a:r>
          </a:p>
        </p:txBody>
      </p:sp>
    </p:spTree>
    <p:extLst>
      <p:ext uri="{BB962C8B-B14F-4D97-AF65-F5344CB8AC3E}">
        <p14:creationId xmlns:p14="http://schemas.microsoft.com/office/powerpoint/2010/main" val="11976771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B121F4-71FD-4CDC-BA8D-65775A71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05050"/>
                </a:solidFill>
                <a:latin typeface="Arial"/>
                <a:ea typeface="Arial"/>
                <a:cs typeface="Arial"/>
              </a:rPr>
              <a:t>АТЛАС РАСХОДНЫХ ПРОФИЛЕЙ  /  СБЕРИНДЕКС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0BB14F-2BD2-42D2-9771-5D0761D9B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14375"/>
            <a:ext cx="11201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Близость учитывает уровень и состав расходов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85C71D-FB28-43FB-8F69-E2C8B2DA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L — логарифм Total; h — контраст геометрического среднего пяти категорий с Total; R — четыре координаты относительного состава (HelmertCLR).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1A0DB2-6508-48F8-893F-FBAEDEA43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C980BE-B043-4D73-91E3-08552B16C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2023–2024 · модельные средние безналичные расходы жителей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C02EE-480D-4235-8C10-422788226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57475"/>
            <a:ext cx="11144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d² = 0,5·dL²/sL² + 0,25·dh²/sh² + 0,25·‖dR‖²/sR²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747666-9CBB-4A1C-B824-0AE3D0791D5F}"/>
              </a:ext>
            </a:extLst>
          </p:cNvPr>
          <p:cNvGraphicFramePr/>
          <p:nvPr/>
        </p:nvGraphicFramePr>
        <p:xfrm>
          <a:off xmlns:a="http://schemas.openxmlformats.org/drawingml/2006/main" x="495300" y="3552825"/>
          <a:ext xmlns:a="http://schemas.openxmlformats.org/drawingml/2006/main" cx="112014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8248650"/>
              </a:tblGrid>
              <a:tr h="49530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Этап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Правило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Признаки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Уровень расходов, контраст пяти категорий с Total, относительная форма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Граф NCut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Union kNN, k = 15 с точными равенствами; w = exp(−d²/2), σ = 1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Общая оценочная сеть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Радиус 1,5 в том же пространстве X6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Сеть экрана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Пять сильнейших связей с равенствами; точное подмножество графа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06668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AA4055-FB56-47F4-9ECD-65599EB8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05050"/>
                </a:solidFill>
                <a:latin typeface="Arial"/>
                <a:ea typeface="Arial"/>
                <a:cs typeface="Arial"/>
              </a:rPr>
              <a:t>АТЛАС РАСХОДНЫХ ПРОФИЛЕЙ  /  СБЕРИНДЕКС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6672D7-1A50-463B-A288-F6A24C8F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14375"/>
            <a:ext cx="11201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Три представления отвечают на разные вопросы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638D07-57C0-4455-AC27-5ED6F9FF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Метод и число групп выбираются вместе с устойчивостью, содержанием и потерей различий.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C288CB-CFFF-4F57-B805-75082FA6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2D6A02-F428-4FFA-BFEF-DD7105D68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2023–2024 · модельные средние безналичные расходы жителей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A23A8A-08E8-4E31-8AFF-B4812C72A254}"/>
              </a:ext>
            </a:extLst>
          </p:cNvPr>
          <p:cNvGraphicFramePr/>
          <p:nvPr/>
        </p:nvGraphicFramePr>
        <p:xfrm>
          <a:off xmlns:a="http://schemas.openxmlformats.org/drawingml/2006/main" x="495300" y="2524125"/>
          <a:ext xmlns:a="http://schemas.openxmlformats.org/drawingml/2006/main" cx="112014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05000"/>
                <a:gridCol w="3667125"/>
                <a:gridCol w="5629275"/>
              </a:tblGrid>
              <a:tr h="7620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Представление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Роль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Ограничение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NCut10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Подробный сетевой взгляд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Чувствительность к административной опоре; слабая геометрия отдельных групп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SSE10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Сравнение при том же K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Меняет критерий разбиения, не определение исходной близости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SSE6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Укрупнённый расходный обзор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Выше средняя устойчивость к подвыборкам в июне и декабре; часть профилей объединена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5B0260-2930-467C-88A0-759FA1F3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6262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Историческое сравнение включает 27 строк с разными опорами и способами сходства. Это не 27 независимых методов и не единый рейтинг.</a:t>
            </a:r>
          </a:p>
        </p:txBody>
      </p:sp>
    </p:spTree>
    <p:extLst>
      <p:ext uri="{BB962C8B-B14F-4D97-AF65-F5344CB8AC3E}">
        <p14:creationId xmlns:p14="http://schemas.microsoft.com/office/powerpoint/2010/main" val="10477016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A2F7C2-852A-4EB2-819C-326F46774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05050"/>
                </a:solidFill>
                <a:latin typeface="Arial"/>
                <a:ea typeface="Arial"/>
                <a:cs typeface="Arial"/>
              </a:rPr>
              <a:t>АТЛАС РАСХОДНЫХ ПРОФИЛЕЙ  /  СБЕРИНДЕКС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5CE289-DF6D-427C-9202-557FAAEF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14375"/>
            <a:ext cx="11201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Шесть индексов не дают одного победителя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B993E-ED35-4174-B975-813FFD30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Декабрь 2024: оценка для одних и тех же 2 103 территорий по единым правилам расчёта индексов.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AC77BC-C5D1-421A-96B8-BBE8AD2D9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E9D033-E1EE-4835-9163-2F71DB7D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2023–2024 · модельные средние безналичные расходы жителей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FA1283-7B9C-420D-A83F-ECA5A0D1ABA0}"/>
              </a:ext>
            </a:extLst>
          </p:cNvPr>
          <p:cNvGraphicFramePr/>
          <p:nvPr/>
        </p:nvGraphicFramePr>
        <p:xfrm>
          <a:off xmlns:a="http://schemas.openxmlformats.org/drawingml/2006/main" x="495300" y="2505075"/>
          <a:ext xmlns:a="http://schemas.openxmlformats.org/drawingml/2006/main" cx="112014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2095500"/>
                <a:gridCol w="2333625"/>
                <a:gridCol w="2333625"/>
                <a:gridCol w="2343150"/>
              </a:tblGrid>
              <a:tr h="4762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Индекс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Направление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NCut10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SSE10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SSE6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SW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Больше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0,222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0,264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0,332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CH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Больше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1 211,5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1 506,1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1 831,5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S_Dbw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Меньше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Не определён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Не определён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0,540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AVI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Больше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0,210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0,241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0,334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AVU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Меньше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0,477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0,444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0,490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MQ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Больше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0,085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0,094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0,142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FB22F7-974F-47BA-B21A-C133E1443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9245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У S_Dbw для K10 — нулевой знаменатель пары. AVU зависит от K и не ранжирует K6/K10; рост SW при укрупнении сам по себе не доказывает улучшения.</a:t>
            </a:r>
          </a:p>
        </p:txBody>
      </p:sp>
    </p:spTree>
    <p:extLst>
      <p:ext uri="{BB962C8B-B14F-4D97-AF65-F5344CB8AC3E}">
        <p14:creationId xmlns:p14="http://schemas.microsoft.com/office/powerpoint/2010/main" val="2836610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3E4FD7-4066-4611-B1D1-91E7FD23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05050"/>
                </a:solidFill>
                <a:latin typeface="Arial"/>
                <a:ea typeface="Arial"/>
                <a:cs typeface="Arial"/>
              </a:rPr>
              <a:t>АТЛАС РАСХОДНЫХ ПРОФИЛЕЙ  /  СБЕРИНДЕКС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B01451-6FE0-4DAA-8B0A-F5AF892D9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14375"/>
            <a:ext cx="11201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SSE6 устойчивее на повторных подвыборках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C7F37E-7C95-4488-83AC-75A9A1DFA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ARI = 1 означает одинаковое разбиение. Средний ARI к полной опоре своего метода и K; 10 подвыборок по 80% в месяц, общих для методов.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8314AB-0E8B-45BF-88CF-86F27DE33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2A9FB1-5C6F-46DA-BA94-8E3BEFDCD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2023–2024 · модельные средние безналичные расходы жителей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EBC92926-DE97-4343-8812-C419D13C9B5E}"/>
              </a:ext>
            </a:extLst>
          </p:cNvPr>
          <p:cNvGraphicFramePr/>
          <p:nvPr/>
        </p:nvGraphicFramePr>
        <p:xfrm>
          <a:off xmlns:a="http://schemas.openxmlformats.org/drawingml/2006/main" x="571500" y="2457450"/>
          <a:ext xmlns:a="http://schemas.openxmlformats.org/drawingml/2006/main" cx="10858500" cy="31051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ef0f7759c0d40c4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FFD9F8-8D9D-4B0B-B220-9B3761C5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10250"/>
            <a:ext cx="11049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Худший ARI SSE6: 0,888 и 0,871. Это проверка двух месяцев; устойчивость всех 24 месяцев и к административной опоре для SSE6 не установлена.</a:t>
            </a:r>
          </a:p>
        </p:txBody>
      </p:sp>
    </p:spTree>
    <p:extLst>
      <p:ext uri="{BB962C8B-B14F-4D97-AF65-F5344CB8AC3E}">
        <p14:creationId xmlns:p14="http://schemas.microsoft.com/office/powerpoint/2010/main" val="133669958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F9D290-1EE5-410E-8CA4-27D59862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05050"/>
                </a:solidFill>
                <a:latin typeface="Arial"/>
                <a:ea typeface="Arial"/>
                <a:cs typeface="Arial"/>
              </a:rPr>
              <a:t>АТЛАС РАСХОДНЫХ ПРОФИЛЕЙ  /  СБЕРИНДЕКС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F4B24-462E-443F-ACA7-1FE9E35B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14375"/>
            <a:ext cx="11201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Шесть групп имеют измеренные расходные профили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933DDD-A0F6-4F62-AB58-98BFFE47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SSE6, декабрь 2024. G0–G5 — исходные метки. Профили — медианы по МО, без весов населения; средний уровень означает близость к медианам выборки.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26197A-7E2A-48B9-BEC1-60934574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251908-5216-4A57-955D-DDB09C2B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2023–2024 · модельные средние безналичные расходы жителей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8F0427-D560-4820-892D-75489F43E113}"/>
              </a:ext>
            </a:extLst>
          </p:cNvPr>
          <p:cNvGraphicFramePr/>
          <p:nvPr/>
        </p:nvGraphicFramePr>
        <p:xfrm>
          <a:off xmlns:a="http://schemas.openxmlformats.org/drawingml/2006/main" x="495300" y="2438400"/>
          <a:ext xmlns:a="http://schemas.openxmlformats.org/drawingml/2006/main" cx="112014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524750"/>
                <a:gridCol w="1428750"/>
                <a:gridCol w="2247900"/>
              </a:tblGrid>
              <a:tr h="530679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Группа и профиль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Число МО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Медиана Total, ₽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G0. Повышенный уровень расходов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398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39 906,0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G1. Низкие расходы, особенно на питание вне дома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465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26 532,0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G2. Средний расходный уровень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467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32 594,0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G3. Самые низкие общие расходы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362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25 189,0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G4. Высокие расходы по большинству категорий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333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59 254,0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G5. Высокие расходы, особенно на продукты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78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52 700,5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95482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370B61-8ED5-4FDE-B3B2-419F5928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05050"/>
                </a:solidFill>
                <a:latin typeface="Arial"/>
                <a:ea typeface="Arial"/>
                <a:cs typeface="Arial"/>
              </a:rPr>
              <a:t>АТЛАС РАСХОДНЫХ ПРОФИЛЕЙ  /  СБЕРИНДЕКС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F7E59C-A381-4C8D-94FE-FE7D29A1E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14375"/>
            <a:ext cx="11201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Десять групп сохраняют подробные различия (1/2)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79F954-8A80-40D2-AE05-B9074AF89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NCut10, декабрь 2024. Названия описывают медианы по МО без весов населения и доступный годовой контекст.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F8FD49-B748-46DF-AC1E-D28B62AD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76AEA3-1DB1-4F0A-BE5D-1B1B9AC0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2023–2024 · модельные средние безналичные расходы жителей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C8E031-122B-4C6F-A8DB-6A306A15C7B4}"/>
              </a:ext>
            </a:extLst>
          </p:cNvPr>
          <p:cNvGraphicFramePr/>
          <p:nvPr/>
        </p:nvGraphicFramePr>
        <p:xfrm>
          <a:off xmlns:a="http://schemas.openxmlformats.org/drawingml/2006/main" x="495300" y="2438400"/>
          <a:ext xmlns:a="http://schemas.openxmlformats.org/drawingml/2006/main" cx="11201400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772400"/>
                <a:gridCol w="1333500"/>
                <a:gridCol w="2095500"/>
              </a:tblGrid>
              <a:tr h="53340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Группа и профиль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Число МО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МО с контекстом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G0. Повышенные расходы крупных по населению территорий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192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146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G1. Небольшие территории с низкими расходами и повышенной ролью маркетплейсов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248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205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G2. Умеренные расходы небольших территорий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362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264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G3. Повышенные расходы при умеренной зарплате работников организаций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274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193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G4. Минимальный расходный уровень небольших территорий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298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263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8C4EE4-B113-42B9-9270-DBB9EE5E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9817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Зарплата работников организаций — не доход всех жителей. Контекст доступен для части каждой группы.</a:t>
            </a:r>
          </a:p>
        </p:txBody>
      </p:sp>
    </p:spTree>
    <p:extLst>
      <p:ext uri="{BB962C8B-B14F-4D97-AF65-F5344CB8AC3E}">
        <p14:creationId xmlns:p14="http://schemas.microsoft.com/office/powerpoint/2010/main" val="14873255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016527-CBB2-4059-B5A3-5DCF5EAE8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05050"/>
                </a:solidFill>
                <a:latin typeface="Arial"/>
                <a:ea typeface="Arial"/>
                <a:cs typeface="Arial"/>
              </a:rPr>
              <a:t>АТЛАС РАСХОДНЫХ ПРОФИЛЕЙ  /  СБЕРИНДЕКС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FDC1F7-0C5D-47A9-9968-E223316E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14375"/>
            <a:ext cx="11201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Десять групп сохраняют подробные различия (2/2)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A51EA9-D6C5-4D6E-8E9E-8ECB8E87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NCut10, декабрь 2024. Названия описывают медианы по МО без весов населения и доступный годовой контекст.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149544-38DC-4A7B-BE3B-7E4BCBB3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CCF5ED-D581-4A88-A9EE-E00984EA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2023–2024 · модельные средние безналичные расходы жителей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7EC65D-E0F0-4957-BAB5-CAAACDB10633}"/>
              </a:ext>
            </a:extLst>
          </p:cNvPr>
          <p:cNvGraphicFramePr/>
          <p:nvPr/>
        </p:nvGraphicFramePr>
        <p:xfrm>
          <a:off xmlns:a="http://schemas.openxmlformats.org/drawingml/2006/main" x="495300" y="2438400"/>
          <a:ext xmlns:a="http://schemas.openxmlformats.org/drawingml/2006/main" cx="11201400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772400"/>
                <a:gridCol w="1333500"/>
                <a:gridCol w="2095500"/>
              </a:tblGrid>
              <a:tr h="53340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Группа и профиль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Число МО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МО с контекстом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G5. Низкие расходы с иным составом потребления — кандидатный профиль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256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206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G6. Столичная концентрация: высокий уровень расходов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135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114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G7. Высокие расходы и зарплата работников организаций при низкой доступности рынков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182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132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G8. Столичная концентрация: более высокий уровень расходов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108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99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G9. Столичная концентрация: верхний расходный диапазон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48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44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543122-9603-4D88-815D-FCE78730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9817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Названия не устанавливают отраслевые функции. Исходная G7 остаётся геометрически неоднородной.</a:t>
            </a:r>
          </a:p>
        </p:txBody>
      </p:sp>
    </p:spTree>
    <p:extLst>
      <p:ext uri="{BB962C8B-B14F-4D97-AF65-F5344CB8AC3E}">
        <p14:creationId xmlns:p14="http://schemas.microsoft.com/office/powerpoint/2010/main" val="15256361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684201-887F-4084-B086-5EF8BBD43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05050"/>
                </a:solidFill>
                <a:latin typeface="Arial"/>
                <a:ea typeface="Arial"/>
                <a:cs typeface="Arial"/>
              </a:rPr>
              <a:t>АТЛАС РАСХОДНЫХ ПРОФИЛЕЙ  /  СБЕРИНДЕКС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722A24-FBE1-4D1A-A15C-E8F36BA7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14375"/>
            <a:ext cx="11201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Цена укрупнения — потеря отдельных различий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A2D5CF-C8B2-40EF-ACCF-6AC95212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SSE6 и NCut10 — два самостоятельных разбиения, а не вложенная иерархия.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2B1A8F-7E62-470E-B0BE-115CF843B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0D23CF-1CE1-404C-B443-454D7902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2023–2024 · модельные средние безналичные расходы жителей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6E654C-E75C-4755-8F28-7E2E4AB0FE21}"/>
              </a:ext>
            </a:extLst>
          </p:cNvPr>
          <p:cNvGraphicFramePr/>
          <p:nvPr/>
        </p:nvGraphicFramePr>
        <p:xfrm>
          <a:off xmlns:a="http://schemas.openxmlformats.org/drawingml/2006/main" x="495300" y="2562225"/>
          <a:ext xmlns:a="http://schemas.openxmlformats.org/drawingml/2006/main" cx="11201400" cy="3219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29250"/>
                <a:gridCol w="5772150"/>
              </a:tblGrid>
              <a:tr h="64389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Что объединяется или разделяется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Наблюдение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</a:tr>
              <a:tr h="64389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Три столичные группы NCut: G6, G8, G9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Участники этих групп (291 ID) вошли в одну группу SSE6 из 333 ID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  <a:tr h="64389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Исходная G7: 182 ID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Разделилась между четырьмя SSE6-группами: 34 / 36 / 35 / 77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</a:tr>
              <a:tr h="64389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Геометрия исходной G7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SW при SSE6 ≈ 0,207; при SSE10 ≈ 0,233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  <a:tr h="64389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Практический выбор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SSE6 — обзор; NCut10 и исходные профили — проверка скрытых различий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F36A16-4409-42B6-AD7D-26DE7B5C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Стабильность разбиения и содержательная однородность конкретной группы — разные свойства.</a:t>
            </a:r>
          </a:p>
        </p:txBody>
      </p:sp>
    </p:spTree>
    <p:extLst>
      <p:ext uri="{BB962C8B-B14F-4D97-AF65-F5344CB8AC3E}">
        <p14:creationId xmlns:p14="http://schemas.microsoft.com/office/powerpoint/2010/main" val="15598808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37933B-26D0-4480-9899-16495053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05050"/>
                </a:solidFill>
                <a:latin typeface="Arial"/>
                <a:ea typeface="Arial"/>
                <a:cs typeface="Arial"/>
              </a:rPr>
              <a:t>АТЛАС РАСХОДНЫХ ПРОФИЛЕЙ  /  СБЕРИНДЕКС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6F1B2B-7092-458E-B9CC-43E45F498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14375"/>
            <a:ext cx="11201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Во времени сравниваются составы, а не номера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D496A1-266E-4B63-8237-865408A5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2016 МО с полной историей; 174 неполные истории не включены. 69 сопоставлений соседних месяцев по общим ID с максимальной суммой пересечений.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2204BE-5612-4AB6-BEAF-085A1854A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DFC619-D10F-4363-B583-A1FAC23C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2023–2024 · модельные средние безналичные расходы жителей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491C8065-FB1D-4684-8B66-44F954883906}"/>
              </a:ext>
            </a:extLst>
          </p:cNvPr>
          <p:cNvGraphicFramePr/>
          <p:nvPr/>
        </p:nvGraphicFramePr>
        <p:xfrm>
          <a:off xmlns:a="http://schemas.openxmlformats.org/drawingml/2006/main" x="571500" y="2457450"/>
          <a:ext xmlns:a="http://schemas.openxmlformats.org/drawingml/2006/main" cx="1085850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60d93c3799b4223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AB9F22-B0FF-4F3E-8BE4-60ABFCCC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1977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SSE6 даёт меньше смен, но часть этого эффекта связана с укрупнением. Изменение группы описывает перестройку состава; причину нужно проверять отдельно.</a:t>
            </a:r>
          </a:p>
        </p:txBody>
      </p:sp>
    </p:spTree>
    <p:extLst>
      <p:ext uri="{BB962C8B-B14F-4D97-AF65-F5344CB8AC3E}">
        <p14:creationId xmlns:p14="http://schemas.microsoft.com/office/powerpoint/2010/main" val="3928530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899940-9579-41C3-A16D-EAD29E972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05050"/>
                </a:solidFill>
                <a:latin typeface="Arial"/>
                <a:ea typeface="Arial"/>
                <a:cs typeface="Arial"/>
              </a:rPr>
              <a:t>АТЛАС РАСХОДНЫХ ПРОФИЛЕЙ  /  СБЕРИНДЕКС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C5893A-0646-485F-A907-EE344389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14375"/>
            <a:ext cx="11201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Внешний контекст уточняет интерпретацию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A539D5-F22B-4634-B47E-C3F4508E1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1 666 территорий в 69 регионах; данные за 2024 год. Расходные признаки и годовой контекст не смешаны.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EF041D-7C43-4C1B-B041-6464F5C53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392D32-9454-4AB0-A80B-22BF2C9EF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2023–2024 · модельные средние безналичные расходы жителей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33C893-4197-4CB9-9A4D-28481B94B01E}"/>
              </a:ext>
            </a:extLst>
          </p:cNvPr>
          <p:cNvGraphicFramePr/>
          <p:nvPr/>
        </p:nvGraphicFramePr>
        <p:xfrm>
          <a:off xmlns:a="http://schemas.openxmlformats.org/drawingml/2006/main" x="495300" y="2562225"/>
          <a:ext xmlns:a="http://schemas.openxmlformats.org/drawingml/2006/main" cx="11201400" cy="3352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4191000"/>
                <a:gridCol w="4057650"/>
              </a:tblGrid>
              <a:tr h="67056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Контекст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Для чего используется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Граница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Население, организации, зарплата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Сопоставление медиан и примеров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Покрытие частичное; зарплата не доход жителей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Доступность рынков, расстояния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Экономико-географическое чтение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Снимок 2024 года, не месячная динамика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Отдельный годовой context6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Сравнение структуры внешних признаков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KMeans на другой опоре; не расходный SSE6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Административный тип и границы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Проверка чувствительности результата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Смешанная опора; исторические границы не восстановлены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251202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EEC2D9-222D-406F-8FF7-E4E8DB8FA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05050"/>
                </a:solidFill>
                <a:latin typeface="Arial"/>
                <a:ea typeface="Arial"/>
                <a:cs typeface="Arial"/>
              </a:rPr>
              <a:t>АТЛАС РАСХОДНЫХ ПРОФИЛЕЙ  /  СБЕРИНДЕКС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226DBF-CE43-48A1-8FAD-C2144B3D5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14375"/>
            <a:ext cx="11201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Кластерный фильтр не улучшил поиск аналогов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EBC737-ABF7-4AB7-A3FE-BD65A23D4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Ретроспективное восстановление скрытой зарплаты работников организаций: 1 419 ID, 67 регионов. MAE логарифма, с равным весом регионов; меньше лучше.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0403D1-BA44-4B58-958D-FEBD244A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A52EAC-A03D-4488-BFAB-65F11530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2023–2024 · модельные средние безналичные расходы жителей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8DB228EB-A00C-4EBF-8ACD-D31D7A758B4B}"/>
              </a:ext>
            </a:extLst>
          </p:cNvPr>
          <p:cNvGraphicFramePr/>
          <p:nvPr/>
        </p:nvGraphicFramePr>
        <p:xfrm>
          <a:off xmlns:a="http://schemas.openxmlformats.org/drawingml/2006/main" x="571500" y="2457450"/>
          <a:ext xmlns:a="http://schemas.openxmlformats.org/drawingml/2006/main" cx="10858500" cy="30384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911ac79d5fc4eb6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C96020-5A30-416C-B7E8-8347575C6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435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Кластер помогает начать описание, но не заменяет проверку близости исходных профилей. Жёсткое ограничение круга аналогов увеличило ошибку и сократило охват.</a:t>
            </a:r>
          </a:p>
        </p:txBody>
      </p:sp>
    </p:spTree>
    <p:extLst>
      <p:ext uri="{BB962C8B-B14F-4D97-AF65-F5344CB8AC3E}">
        <p14:creationId xmlns:p14="http://schemas.microsoft.com/office/powerpoint/2010/main" val="203216776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F51BDD-9AFB-4B95-9AF0-E15C8DB1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05050"/>
                </a:solidFill>
                <a:latin typeface="Arial"/>
                <a:ea typeface="Arial"/>
                <a:cs typeface="Arial"/>
              </a:rPr>
              <a:t>АТЛАС РАСХОДНЫХ ПРОФИЛЕЙ  /  СБЕРИНДЕКС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6FF9CB-11FE-4211-95C1-85A1B42B1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14375"/>
            <a:ext cx="11201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Атлас связывает карту, сеть и паспорт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D56112-C2DC-4DDC-A330-93F0DB760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Выбор модели и месяца обновляет группы, показатели, сеть и паспорт выбранной территории. Пропуски и неизвестная география показаны отдельно.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6EFA16-BA4D-4193-A7F8-A4357AC1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B7FFB7-31FB-4184-9741-D19105FBC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2023–2024 · модельные средние безналичные расходы жителей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E6D574-566A-41E8-B640-A6C267E2AE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b1de06d99d4ee2"/>
          <a:stretch xmlns:a="http://schemas.openxmlformats.org/drawingml/2006/main"/>
        </p:blipFill>
        <p:spPr>
          <a:xfrm xmlns:a="http://schemas.openxmlformats.org/drawingml/2006/main">
            <a:off x="882650" y="2409825"/>
            <a:ext cx="6654800" cy="37433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828F13-6DFB-48CA-A187-B0053304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505075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Аналоги Екатеринбурга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BB0853-86E8-42FB-A6B8-6FB87E47A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219450"/>
            <a:ext cx="333375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 Total: Красноярск, Тюмень, Нижний Новгород.</a:t>
            </a:r>
          </a:p>
          <a:p xmlns:a="http://schemas.openxmlformats.org/drawingml/2006/main">
            <a:pPr>
              <a:defRPr sz="16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 контексту: Пермский городской округ, Нижний Новгород, Тюмень.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87FB93-B0D0-45C5-B126-7DD48951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91100"/>
            <a:ext cx="330517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На экране показана часть рёбер. Проекция расходов не является географической картой.</a:t>
            </a:r>
          </a:p>
        </p:txBody>
      </p:sp>
    </p:spTree>
    <p:extLst>
      <p:ext uri="{BB962C8B-B14F-4D97-AF65-F5344CB8AC3E}">
        <p14:creationId xmlns:p14="http://schemas.microsoft.com/office/powerpoint/2010/main" val="22430012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7715A1-38C1-40FD-842D-9F87D7EA4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05050"/>
                </a:solidFill>
                <a:latin typeface="Arial"/>
                <a:ea typeface="Arial"/>
                <a:cs typeface="Arial"/>
              </a:rPr>
              <a:t>АТЛАС РАСХОДНЫХ ПРОФИЛЕЙ  /  СБЕРИНДЕКС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75BFD8-357C-4D81-99DE-9142C8B97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14375"/>
            <a:ext cx="11201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Проверка сохранённых данных отделена от пересчёта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C90365-DCB2-4641-BE88-FEE1965D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Переносимый научный комплект включает код, входы, параметры и результаты. Большой рабочий архив ВМ для чтения не нужен.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2258F-7557-4941-8A3B-CD430E71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487007-04F4-4568-A622-03F70D78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2023–2024 · модельные средние безналичные расходы жителей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A8DD0F-2AF6-4A6C-9370-F9766ADCEDB7}"/>
              </a:ext>
            </a:extLst>
          </p:cNvPr>
          <p:cNvGraphicFramePr/>
          <p:nvPr/>
        </p:nvGraphicFramePr>
        <p:xfrm>
          <a:off xmlns:a="http://schemas.openxmlformats.org/drawingml/2006/main" x="495300" y="2514600"/>
          <a:ext xmlns:a="http://schemas.openxmlformats.org/drawingml/2006/main" cx="112014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91000"/>
                <a:gridCol w="7010400"/>
              </a:tblGrid>
              <a:tr h="6667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Действие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Результат и граница</a:t>
                      </a:r>
                    </a:p>
                  </a:txBody>
                  <a:tcPr marL="91440" marR="91440" marT="45720" marB="45720">
                    <a:solidFill>
                      <a:srgbClr val="171717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python -B research/release.py verify</a:t>
                      </a:r>
                    </a:p>
                    <a:p>
                      <a:r>
                        <a:rPr sz="150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из корня репозитория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SHA-256 и 532 сохранённых разбиения; нового обучения нет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Полный контроль на ВМ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504 месячных + 28 контекстных разбиений; принят исходный вычислительный r03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Текущая редакция r04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Те же ядра и результаты; исправлена защита пути CSV-экспорта и документация</a:t>
                      </a:r>
                    </a:p>
                  </a:txBody>
                  <a:tcPr marL="91440" marR="91440" marT="45720" marB="45720">
                    <a:solidFill>
                      <a:srgbClr val="F1F1E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Новый полный запуск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1717"/>
                          </a:solidFill>
                          <a:latin typeface="Arial"/>
                          <a:ea typeface="Arial"/>
                          <a:cs typeface="Arial"/>
                        </a:rPr>
                        <a:t>Отдельная команда, Linux, зафиксированные зависимости и новый каталог результата</a:t>
                      </a:r>
                    </a:p>
                  </a:txBody>
                  <a:tcPr marL="91440" marR="91440" marT="45720" marB="45720">
                    <a:solidFill>
                      <a:srgbClr val="FAFAF6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9D15DF-43B1-4FCC-B4B5-F8E6A0044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9245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Полный повтор r04 в чистой внешней упаковке не выполнялся. Побайтная проверка и запуск читателя подтверждены отдельно.</a:t>
            </a:r>
          </a:p>
        </p:txBody>
      </p:sp>
    </p:spTree>
    <p:extLst>
      <p:ext uri="{BB962C8B-B14F-4D97-AF65-F5344CB8AC3E}">
        <p14:creationId xmlns:p14="http://schemas.microsoft.com/office/powerpoint/2010/main" val="14808780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717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697A26-3260-4ABF-AF81-5671C464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EEC53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EEC53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EC530"/>
                </a:solidFill>
                <a:latin typeface="Arial"/>
                <a:ea typeface="Arial"/>
                <a:cs typeface="Arial"/>
              </a:rPr>
              <a:t>АТЛАС РАСХОДНЫХ ПРОФИЛЕЙ  /  СБЕРИНДЕКС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6B5E54-6937-48D7-B2F4-E153C513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14375"/>
            <a:ext cx="11201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Результат: система для сравнения расходных профилей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39CDA2-70D5-49F2-804A-A428FC57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DDDDD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DDDD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DDDDD"/>
                </a:solidFill>
                <a:latin typeface="Arial"/>
                <a:ea typeface="Arial"/>
                <a:cs typeface="Arial"/>
              </a:rPr>
              <a:t>Для каждой территории доступны исходные расходы, группа, динамика состава и результаты проверок.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6AA69-6B09-4E81-9BBC-5A27A1A6E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DDDDD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DDDDD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DDDDD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C18632-676F-432C-8B5D-62741622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BBBBB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BBBBB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BBBBBB"/>
                </a:solidFill>
                <a:latin typeface="Arial"/>
                <a:ea typeface="Arial"/>
                <a:cs typeface="Arial"/>
              </a:rPr>
              <a:t>2023–2024 · модельные средние безналичные расходы жителей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DAA10D-C95C-45C5-801D-C03A96F7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38425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1">
                <a:solidFill>
                  <a:srgbClr val="EEC53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EEC53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EEC530"/>
                </a:solidFill>
                <a:latin typeface="Arial"/>
                <a:ea typeface="Arial"/>
                <a:cs typeface="Arial"/>
              </a:rPr>
              <a:t>Что получено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021986-0068-4687-A9A7-75F9670D0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57550"/>
            <a:ext cx="52387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Ежемесячная сеть близости.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 подробных и 6 укрупнённых профилей.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Проверяемая динамика состава.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Интерактивное сравнение с исходными данными.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EEB9AB-4FEE-4DA6-9E0A-428107AB4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638425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1">
                <a:solidFill>
                  <a:srgbClr val="EEC53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EEC53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EEC530"/>
                </a:solidFill>
                <a:latin typeface="Arial"/>
                <a:ea typeface="Arial"/>
                <a:cs typeface="Arial"/>
              </a:rPr>
              <a:t>Что остаётся открытым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1122AC-881F-481B-B6FA-A27D4691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257550"/>
            <a:ext cx="5191125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Универсальные типы локальных экономик.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Причины изменений во времени.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Административная устойчивость SSE6.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Польза кластерного фильтра в других задачах.</a:t>
            </a:r>
          </a:p>
        </p:txBody>
      </p:sp>
    </p:spTree>
    <p:extLst>
      <p:ext uri="{BB962C8B-B14F-4D97-AF65-F5344CB8AC3E}">
        <p14:creationId xmlns:p14="http://schemas.microsoft.com/office/powerpoint/2010/main" val="83331738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3763D3-CD6B-40B8-8C28-E32F2FE2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05050"/>
                </a:solidFill>
                <a:latin typeface="Arial"/>
                <a:ea typeface="Arial"/>
                <a:cs typeface="Arial"/>
              </a:rPr>
              <a:t>АТЛАС РАСХОДНЫХ ПРОФИЛЕЙ  /  СБЕРИНДЕКС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86F674-FEB0-41DD-A736-D02FCE1A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14375"/>
            <a:ext cx="11201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Материалы и источники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7A8D15-C878-4EEC-88C8-EF1C8D3C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В отчёте и коде приведены формулы, описания групп, таблицы сравнения и источники чисел.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5C7CF5-8F56-47EE-80C8-BF294753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DE58E1-25CD-412D-8722-1B6D3FE89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0505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5050"/>
                </a:solidFill>
                <a:latin typeface="Arial"/>
                <a:ea typeface="Arial"/>
                <a:cs typeface="Arial"/>
              </a:rPr>
              <a:t>2023–2024 · модельные средние безналичные расходы жителей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93C570-F0C5-4E09-9C53-894DCB896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28900"/>
            <a:ext cx="1114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Интерактивный атлас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91739A-899D-455F-AA6F-35E588611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95625"/>
            <a:ext cx="1114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1717"/>
                </a:solidFill>
                <a:latin typeface="Arial"/>
                <a:ea typeface="Arial"/>
                <a:cs typeface="Arial"/>
                <a:hlinkClick xmlns:r="http://schemas.openxmlformats.org/officeDocument/2006/relationships" r:id="R7ff7361f2c01464a"/>
              </a:rPr>
              <a:t>https://belovmaksimalekseevich.github.io/sberindex-municipal-atlas-2026/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954F6A-1A6A-4009-A06A-36649709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81425"/>
            <a:ext cx="1114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Код, данные, инструкции и документы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C89C42-4EF4-4490-96A9-0BE26779B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48150"/>
            <a:ext cx="1114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1717"/>
                </a:solidFill>
                <a:latin typeface="Arial"/>
                <a:ea typeface="Arial"/>
                <a:cs typeface="Arial"/>
                <a:hlinkClick xmlns:r="http://schemas.openxmlformats.org/officeDocument/2006/relationships" r:id="Rd2ef0cbc603746a0"/>
              </a:rPr>
              <a:t>https://github.com/belovmaksimalekseevich/sberindex-municipal-atlas-2026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C43B78-72AC-4B37-9D64-E0A9C260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10150"/>
            <a:ext cx="11049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Данные: СберИндекс, муниципальные расходы 2023–2024; внешний контекст и география имеют собственные ограничения покрытия и даты. Точные источники и SHA-256 — в реестре отчёта. Положение конкурса: sber.ru/sberindex/konkurs_sberindex.</a:t>
            </a:r>
          </a:p>
        </p:txBody>
      </p:sp>
    </p:spTree>
    <p:extLst>
      <p:ext uri="{BB962C8B-B14F-4D97-AF65-F5344CB8AC3E}">
        <p14:creationId xmlns:p14="http://schemas.microsoft.com/office/powerpoint/2010/main" val="14214114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2026-10-09T16:54:10.4120000Z</dcterms:created>
  <dcterms:modified xsi:type="dcterms:W3CDTF">2026-10-09T16:54:10.4120000Z</dcterms:modified>
</coreProperties>
</file>